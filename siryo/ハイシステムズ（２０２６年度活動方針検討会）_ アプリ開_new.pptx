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
<Relationships xmlns="http://schemas.openxmlformats.org/package/2006/relationships">
  <Relationship Id="rId3" Type="http://schemas.openxmlformats.org/officeDocument/2006/relationships/extended-properties" Target="docProps/app.xml"/>
  <Relationship Id="rId2" Type="http://schemas.openxmlformats.org/package/2006/relationships/metadata/core-properties" Target="docProps/core.xml"/>
  <Relationship Id="rId1" Type="http://schemas.openxmlformats.org/officeDocument/2006/relationships/officeDocument" Target="ppt/presentation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3"/>
  </p:sldMasterIdLst>
  <p:notesMasterIdLst>
    <p:notesMasterId r:id="rId16"/>
  </p:notesMasterIdLst>
  <p:handoutMasterIdLst>
    <p:handoutMasterId r:id="rId17"/>
  </p:handoutMasterIdLst>
  <p:sldIdLst>
    <p:sldId id="256" r:id="rId4"/>
    <p:sldId id="257" r:id="rId5"/>
    <p:sldId id="306" r:id="rId6"/>
    <p:sldId id="297" r:id="rId7"/>
    <p:sldId id="307" r:id="rId8"/>
    <p:sldId id="308" r:id="rId9"/>
    <p:sldId id="310" r:id="rId10"/>
    <p:sldId id="293" r:id="rId11"/>
    <p:sldId id="294" r:id="rId12"/>
    <p:sldId id="295" r:id="rId13"/>
    <p:sldId id="296" r:id="rId14"/>
    <p:sldId id="300" r:id="rId15"/>
  </p:sldIdLst>
  <p:sldSz cx="9144000" cy="6858000" type="screen4x3"/>
  <p:notesSz cx="6807200" cy="9939338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5284" userDrawn="1">
          <p15:clr>
            <a:srgbClr val="A4A3A4"/>
          </p15:clr>
        </p15:guide>
        <p15:guide id="3" pos="136">
          <p15:clr>
            <a:srgbClr val="A4A3A4"/>
          </p15:clr>
        </p15:guide>
        <p15:guide id="4" pos="5556">
          <p15:clr>
            <a:srgbClr val="A4A3A4"/>
          </p15:clr>
        </p15:guide>
        <p15:guide id="5" pos="11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746" y="96"/>
      </p:cViewPr>
      <p:guideLst>
        <p:guide orient="horz" pos="2137"/>
        <p:guide pos="5284"/>
        <p:guide pos="136"/>
        <p:guide pos="5556"/>
        <p:guide pos="11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?>
<Relationships xmlns="http://schemas.openxmlformats.org/package/2006/relationships">
  <Relationship Id="rId8" Type="http://schemas.openxmlformats.org/officeDocument/2006/relationships/slide" Target="slides/slide5.xml"/>
  <Relationship Id="rId13" Type="http://schemas.openxmlformats.org/officeDocument/2006/relationships/slide" Target="slides/slide10.xml"/>
  <Relationship Id="rId18" Type="http://schemas.openxmlformats.org/officeDocument/2006/relationships/tags" Target="tags/tag1.xml"/>
  <Relationship Id="rId3" Type="http://schemas.openxmlformats.org/officeDocument/2006/relationships/slideMaster" Target="slideMasters/slideMaster1.xml"/>
  <Relationship Id="rId21" Type="http://schemas.openxmlformats.org/officeDocument/2006/relationships/theme" Target="theme/theme1.xml"/>
  <Relationship Id="rId7" Type="http://schemas.openxmlformats.org/officeDocument/2006/relationships/slide" Target="slides/slide4.xml"/>
  <Relationship Id="rId12" Type="http://schemas.openxmlformats.org/officeDocument/2006/relationships/slide" Target="slides/slide9.xml"/>
  <Relationship Id="rId17" Type="http://schemas.openxmlformats.org/officeDocument/2006/relationships/handoutMaster" Target="handoutMasters/handoutMaster1.xml"/>
  <Relationship Id="rId2" Type="http://schemas.openxmlformats.org/officeDocument/2006/relationships/customXml" Target="../customXml/item2.xml"/>
  <Relationship Id="rId16" Type="http://schemas.openxmlformats.org/officeDocument/2006/relationships/notesMaster" Target="notesMasters/notesMaster1.xml"/>
  <Relationship Id="rId20" Type="http://schemas.openxmlformats.org/officeDocument/2006/relationships/viewProps" Target="viewProps.xml"/>
  <Relationship Id="rId1" Type="http://schemas.openxmlformats.org/officeDocument/2006/relationships/customXml" Target="../customXml/item1.xml"/>
  <Relationship Id="rId6" Type="http://schemas.openxmlformats.org/officeDocument/2006/relationships/slide" Target="slides/slide3.xml"/>
  <Relationship Id="rId11" Type="http://schemas.openxmlformats.org/officeDocument/2006/relationships/slide" Target="slides/slide8.xml"/>
  <Relationship Id="rId5" Type="http://schemas.openxmlformats.org/officeDocument/2006/relationships/slide" Target="slides/slide2.xml"/>
  <Relationship Id="rId15" Type="http://schemas.openxmlformats.org/officeDocument/2006/relationships/slide" Target="slides/slide12.xml"/>
  <Relationship Id="rId23" Type="http://schemas.microsoft.com/office/2016/11/relationships/changesInfo" Target="changesInfos/changesInfo1.xml"/>
  <Relationship Id="rId10" Type="http://schemas.openxmlformats.org/officeDocument/2006/relationships/slide" Target="slides/slide7.xml"/>
  <Relationship Id="rId19" Type="http://schemas.openxmlformats.org/officeDocument/2006/relationships/presProps" Target="presProps.xml"/>
  <Relationship Id="rId4" Type="http://schemas.openxmlformats.org/officeDocument/2006/relationships/slide" Target="slides/slide1.xml"/>
  <Relationship Id="rId9" Type="http://schemas.openxmlformats.org/officeDocument/2006/relationships/slide" Target="slides/slide6.xml"/>
  <Relationship Id="rId14" Type="http://schemas.openxmlformats.org/officeDocument/2006/relationships/slide" Target="slides/slide11.xml"/>
  <Relationship Id="rId22" Type="http://schemas.openxmlformats.org/officeDocument/2006/relationships/tableStyles" Target="tableStyles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原 昭彦" userId="9728fe06-e3c9-46f3-954f-d9acf209a338" providerId="ADAL" clId="{E87D111D-D8AD-42AA-81AE-23AF117FE748}"/>
    <pc:docChg chg="undo custSel modSld">
      <pc:chgData name="新原 昭彦" userId="9728fe06-e3c9-46f3-954f-d9acf209a338" providerId="ADAL" clId="{E87D111D-D8AD-42AA-81AE-23AF117FE748}" dt="2025-07-04T07:49:07.999" v="488"/>
      <pc:docMkLst>
        <pc:docMk/>
      </pc:docMkLst>
      <pc:sldChg chg="modSp mod">
        <pc:chgData name="新原 昭彦" userId="9728fe06-e3c9-46f3-954f-d9acf209a338" providerId="ADAL" clId="{E87D111D-D8AD-42AA-81AE-23AF117FE748}" dt="2025-07-04T07:35:51.990" v="270"/>
        <pc:sldMkLst>
          <pc:docMk/>
          <pc:sldMk cId="4168291961" sldId="293"/>
        </pc:sldMkLst>
        <pc:graphicFrameChg chg="mod modGraphic">
          <ac:chgData name="新原 昭彦" userId="9728fe06-e3c9-46f3-954f-d9acf209a338" providerId="ADAL" clId="{E87D111D-D8AD-42AA-81AE-23AF117FE748}" dt="2025-07-04T07:35:51.990" v="270"/>
          <ac:graphicFrameMkLst>
            <pc:docMk/>
            <pc:sldMk cId="4168291961" sldId="293"/>
            <ac:graphicFrameMk id="5" creationId="{E8DE5BE8-7E77-4E34-92E7-08194263EDD1}"/>
          </ac:graphicFrameMkLst>
        </pc:graphicFrameChg>
      </pc:sldChg>
      <pc:sldChg chg="modSp mod">
        <pc:chgData name="新原 昭彦" userId="9728fe06-e3c9-46f3-954f-d9acf209a338" providerId="ADAL" clId="{E87D111D-D8AD-42AA-81AE-23AF117FE748}" dt="2025-07-04T07:49:07.999" v="488"/>
        <pc:sldMkLst>
          <pc:docMk/>
          <pc:sldMk cId="1766690515" sldId="294"/>
        </pc:sldMkLst>
        <pc:graphicFrameChg chg="mod modGraphic">
          <ac:chgData name="新原 昭彦" userId="9728fe06-e3c9-46f3-954f-d9acf209a338" providerId="ADAL" clId="{E87D111D-D8AD-42AA-81AE-23AF117FE748}" dt="2025-07-04T07:49:07.999" v="488"/>
          <ac:graphicFrameMkLst>
            <pc:docMk/>
            <pc:sldMk cId="1766690515" sldId="294"/>
            <ac:graphicFrameMk id="5" creationId="{E8DE5BE8-7E77-4E34-92E7-08194263EDD1}"/>
          </ac:graphicFrameMkLst>
        </pc:graphicFrameChg>
      </pc:sldChg>
    </pc:docChg>
  </pc:docChgLst>
</pc:chgInfo>
</file>

<file path=ppt/handoutMasters/_rels/handoutMaster1.xml.rels><?xml version="1.0" encoding="utf-8"?>
<Relationships xmlns="http://schemas.openxmlformats.org/package/2006/relationships">
  <Relationship Id="rId1" Type="http://schemas.openxmlformats.org/officeDocument/2006/relationships/theme" Target="../theme/theme3.xml"/>
</Relationships>
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6D116-4C40-4B0D-B5A6-0A72699EF9D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7C5EC-2984-40D6-8773-7E657B9AA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34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
  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9440B-20E2-4703-BEA5-00C8CB1339E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9C373-6AD9-45D2-90C0-0F204C038A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23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<Relationship Id="rId2" Type="http://schemas.openxmlformats.org/officeDocument/2006/relationships/slide" Target="../slides/slide1.xml"/>
  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9C373-6AD9-45D2-90C0-0F204C038A4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259830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2" Type="http://schemas.openxmlformats.org/officeDocument/2006/relationships/image" Target="../media/image2.png"/>
  <Relationship Id="rId1" Type="http://schemas.openxmlformats.org/officeDocument/2006/relationships/slideMaster" Target="../slideMasters/slideMaster1.xml"/>
</Relationships>

</file>

<file path=ppt/slideLayouts/_rels/slideLayout2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3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4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5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6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7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8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9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0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365673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725144"/>
            <a:ext cx="6400800" cy="9136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2" name="Line 8"/>
          <p:cNvSpPr>
            <a:spLocks noChangeShapeType="1"/>
          </p:cNvSpPr>
          <p:nvPr userDrawn="1"/>
        </p:nvSpPr>
        <p:spPr bwMode="auto">
          <a:xfrm>
            <a:off x="971550" y="3213100"/>
            <a:ext cx="7200900" cy="0"/>
          </a:xfrm>
          <a:prstGeom prst="line">
            <a:avLst/>
          </a:prstGeom>
          <a:noFill/>
          <a:ln w="76200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pic>
        <p:nvPicPr>
          <p:cNvPr id="13" name="Picture 151" descr="D:\olivia\Desktop\熊本　ナトーハイシステムズ.files\top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69851"/>
            <a:ext cx="28575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日付プレースホルダー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B710-1CE3-42CE-AD39-30449033B0C5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15" name="フッター プレースホルダー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altLang="ja-JP"/>
              <a:t>Copyright(c) 2025 NATO HIGHSYSTEMS</a:t>
            </a:r>
          </a:p>
        </p:txBody>
      </p:sp>
      <p:sp>
        <p:nvSpPr>
          <p:cNvPr id="16" name="スライド番号プレースホルダー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 userDrawn="1"/>
        </p:nvSpPr>
        <p:spPr bwMode="auto">
          <a:xfrm>
            <a:off x="9055100" y="0"/>
            <a:ext cx="125412" cy="6858000"/>
          </a:xfrm>
          <a:prstGeom prst="rect">
            <a:avLst/>
          </a:prstGeom>
          <a:solidFill>
            <a:srgbClr val="F2770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endParaRPr lang="ja-JP" altLang="en-US">
              <a:solidFill>
                <a:srgbClr val="F277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30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613B-3FEC-4873-9651-D746247E29E1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3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81328"/>
            <a:ext cx="2133600" cy="365125"/>
          </a:xfrm>
        </p:spPr>
        <p:txBody>
          <a:bodyPr/>
          <a:lstStyle/>
          <a:p>
            <a:fld id="{6FB92ACF-F8B5-4FC5-898F-E3FC4B91A206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6084168" y="6381328"/>
            <a:ext cx="28956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r>
              <a:rPr lang="en-US" altLang="ja-JP">
                <a:ea typeface="Tahoma" panose="020B0604030504040204" pitchFamily="34" charset="0"/>
              </a:rPr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3347864" y="6381328"/>
            <a:ext cx="2133600" cy="365125"/>
          </a:xfrm>
        </p:spPr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2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D814-CA40-4BA2-B4AD-916B946FD2BA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9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4650-E2DE-4F4A-B297-963072CCA192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8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DD84-EB9A-4F09-A9E3-0EA8C061D175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53840-5429-4A99-9B80-320A5F7712CF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 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BAD8-DFB7-4EE4-9CF1-E77A98FE2825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0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1D90-D433-4A0A-BF00-86248E709A43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21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0385-463A-40B2-9F20-C72A5788B180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8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9387-B1A4-4BF7-A935-E3BF7350AAC9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15886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8" Type="http://schemas.openxmlformats.org/officeDocument/2006/relationships/slideLayout" Target="../slideLayouts/slideLayout8.xml"/>
  <Relationship Id="rId13" Type="http://schemas.openxmlformats.org/officeDocument/2006/relationships/image" Target="../media/image1.png"/>
  <Relationship Id="rId3" Type="http://schemas.openxmlformats.org/officeDocument/2006/relationships/slideLayout" Target="../slideLayouts/slideLayout3.xml"/>
  <Relationship Id="rId7" Type="http://schemas.openxmlformats.org/officeDocument/2006/relationships/slideLayout" Target="../slideLayouts/slideLayout7.xml"/>
  <Relationship Id="rId12" Type="http://schemas.openxmlformats.org/officeDocument/2006/relationships/theme" Target="../theme/theme1.xml"/>
  <Relationship Id="rId2" Type="http://schemas.openxmlformats.org/officeDocument/2006/relationships/slideLayout" Target="../slideLayouts/slideLayout2.xml"/>
  <Relationship Id="rId1" Type="http://schemas.openxmlformats.org/officeDocument/2006/relationships/slideLayout" Target="../slideLayouts/slideLayout1.xml"/>
  <Relationship Id="rId6" Type="http://schemas.openxmlformats.org/officeDocument/2006/relationships/slideLayout" Target="../slideLayouts/slideLayout6.xml"/>
  <Relationship Id="rId11" Type="http://schemas.openxmlformats.org/officeDocument/2006/relationships/slideLayout" Target="../slideLayouts/slideLayout11.xml"/>
  <Relationship Id="rId5" Type="http://schemas.openxmlformats.org/officeDocument/2006/relationships/slideLayout" Target="../slideLayouts/slideLayout5.xml"/>
  <Relationship Id="rId10" Type="http://schemas.openxmlformats.org/officeDocument/2006/relationships/slideLayout" Target="../slideLayouts/slideLayout10.xml"/>
  <Relationship Id="rId4" Type="http://schemas.openxmlformats.org/officeDocument/2006/relationships/slideLayout" Target="../slideLayouts/slideLayout4.xml"/>
  <Relationship Id="rId9" Type="http://schemas.openxmlformats.org/officeDocument/2006/relationships/slideLayout" Target="../slideLayouts/slideLayout9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 xml:space="preserve">第 </a:t>
            </a:r>
            <a:r>
              <a:rPr lang="en-US" altLang="ja-JP"/>
              <a:t xml:space="preserve"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 xml:space="preserve">第 </a:t>
            </a:r>
            <a:r>
              <a:rPr lang="en-US" altLang="ja-JP"/>
              <a:t xml:space="preserve"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 xml:space="preserve">第 </a:t>
            </a:r>
            <a:r>
              <a:rPr lang="en-US" altLang="ja-JP"/>
              <a:t xml:space="preserve"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 xml:space="preserve">第 </a:t>
            </a:r>
            <a:r>
              <a:rPr lang="en-US" altLang="ja-JP"/>
              <a:t xml:space="preserve"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F859F-75BD-46B4-A4F3-99C7E43997AB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6068888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altLang="ja-JP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355976" y="6356350"/>
            <a:ext cx="5618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ChangeArrowheads="1"/>
          </p:cNvSpPr>
          <p:nvPr userDrawn="1"/>
        </p:nvSpPr>
        <p:spPr bwMode="auto">
          <a:xfrm>
            <a:off x="9055100" y="0"/>
            <a:ext cx="125412" cy="6858000"/>
          </a:xfrm>
          <a:prstGeom prst="rect">
            <a:avLst/>
          </a:prstGeom>
          <a:solidFill>
            <a:srgbClr val="F2770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endParaRPr lang="ja-JP" altLang="en-US">
              <a:solidFill>
                <a:srgbClr val="F2770C"/>
              </a:solidFill>
            </a:endParaRPr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179387" y="1252538"/>
            <a:ext cx="8640000" cy="0"/>
          </a:xfrm>
          <a:prstGeom prst="line">
            <a:avLst/>
          </a:prstGeom>
          <a:noFill/>
          <a:ln w="762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pic>
        <p:nvPicPr>
          <p:cNvPr id="11" name="Picture 159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286" y="136525"/>
            <a:ext cx="1822202" cy="47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31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kumimoji="1" sz="3200" b="0" i="0" u="none" kern="1200">
          <a:solidFill>
            <a:schemeClr val="accent6">
              <a:lumMod val="7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4AC4"/>
        </a:buClr>
        <a:buSzPct val="70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27050" indent="-28575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0000"/>
        <a:buFont typeface="Wingdings" panose="05000000000000000000" pitchFamily="2" charset="2"/>
        <a:buChar char="n"/>
        <a:defRPr kumimoji="1" sz="2400" b="0" i="0" u="none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812800" indent="-228600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79500" indent="-228600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Wingdings" panose="05000000000000000000" pitchFamily="2" charset="2"/>
        <a:buChar char="n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346200" indent="-22860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0000"/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1.xml"/>
  <Relationship Id="rId1" Type="http://schemas.openxmlformats.org/officeDocument/2006/relationships/slideLayout" Target="../slideLayouts/slideLayout1.xml"/>
</Relationships>

</file>

<file path=ppt/slides/_rels/slide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5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6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7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8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9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0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ja-JP" altLang="en-US" b="1" u="sng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２０２６年度活動方針検討会</a:t>
            </a:r>
            <a:b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　</a:t>
            </a: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</a:t>
            </a:r>
            <a:br>
              <a:rPr lang="en-US" altLang="ja-JP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</a:b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　　　　　／２０２６年度</a:t>
            </a:r>
            <a:r>
              <a:rPr kumimoji="1"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活動計画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437112"/>
            <a:ext cx="6400800" cy="165618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２０２６年７月１０日</a:t>
            </a:r>
          </a:p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システムインテグレーション事業部</a:t>
            </a:r>
            <a:b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アプリケーション開発グループ</a:t>
            </a:r>
            <a:endParaRPr lang="en-US" altLang="ja-JP" dirty="0">
              <a:latin typeface="HGS明朝E" panose="02020900000000000000" pitchFamily="18" charset="-128"/>
              <a:ea typeface="HGS明朝E" panose="02020900000000000000" pitchFamily="18" charset="-128"/>
              <a:cs typeface="メイリオ" panose="020B0604030504040204" pitchFamily="50" charset="-128"/>
            </a:endParaRPr>
          </a:p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新原　昭彦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altLang="ja-JP" dirty="0"/>
              <a:t>Copyright(c) 2026 NATO HIGHSYSTEMS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4EF98A-E40F-486A-986C-A29AF738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9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/>
          <a:lstStyle/>
          <a:p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目　次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4998" y="1421459"/>
            <a:ext cx="9026033" cy="511862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１．部門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概要（２０２５年度／２０２６年度）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２．２０２５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年度活動実績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３．２０２６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年度活動計画</a:t>
            </a:r>
            <a:r>
              <a:rPr lang="en-US" altLang="ja-JP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〔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課題／課題解決策</a:t>
            </a:r>
            <a:r>
              <a:rPr lang="en-US" altLang="ja-JP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〕</a:t>
            </a:r>
            <a:endParaRPr lang="ja-JP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４​．２０２５年度売上実績〔予算比〕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５．</a:t>
            </a:r>
            <a:r>
              <a:rPr lang="ja-JP" altLang="en-US" sz="28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２０２６年度売上予算〔前年度比〕／主要因・具体策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６．職場環境改善活動計画および実施状況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７．部門全般に関する問題点および課題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buNone/>
            </a:pPr>
            <a:endParaRPr lang="en-US" altLang="ja-JP" sz="3000" dirty="0"/>
          </a:p>
          <a:p>
            <a:pPr marL="0" indent="0">
              <a:buNone/>
            </a:pPr>
            <a:endParaRPr lang="en-US" altLang="ja-JP" sz="3000" dirty="0"/>
          </a:p>
          <a:p>
            <a:pPr marL="0" indent="0">
              <a:buNone/>
            </a:pPr>
            <a:endParaRPr lang="en-US" altLang="ja-JP" sz="3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lvl="1"/>
            <a:endParaRPr lang="en-US" altLang="ja-JP" sz="3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6120172" y="6396095"/>
            <a:ext cx="2895600" cy="365125"/>
          </a:xfrm>
        </p:spPr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9FEA42-47C8-45ED-9AD6-DE6E04A1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25A8E812-D3EB-0797-7745-239B2AFF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部門概要（２０２５年度／２０２６年度）</a:t>
            </a:r>
            <a:endParaRPr lang="en-US" altLang="ja-JP" sz="32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FCCAC8-3C65-3D52-BAFC-82E34B9E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Copyright(c) 2026 NATO HIGHSYSTEMS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75AA88-8925-4ED3-B650-8E3A4F98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1" name="コンテンツ プレースホルダー 6">
            <a:extLst>
              <a:ext uri="{FF2B5EF4-FFF2-40B4-BE49-F238E27FC236}">
                <a16:creationId xmlns:a16="http://schemas.microsoft.com/office/drawing/2014/main" id="{AC496CD1-CCF8-BA3F-AB32-DC2161094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603337"/>
            <a:ext cx="8604634" cy="4525963"/>
          </a:xfrm>
        </p:spPr>
        <p:txBody>
          <a:bodyPr/>
          <a:lstStyle/>
          <a:p>
            <a:pPr marL="241300" lvl="1" indent="0">
              <a:buNone/>
            </a:pPr>
            <a:endParaRPr lang="en-US" altLang="ja-JP" sz="2400" dirty="0"/>
          </a:p>
          <a:p>
            <a:pPr marL="241300" lvl="1" indent="0">
              <a:buNone/>
            </a:pPr>
            <a:endParaRPr kumimoji="1" lang="en-US" altLang="ja-JP" sz="2000" dirty="0"/>
          </a:p>
          <a:p>
            <a:pPr marL="241300" lvl="1" indent="0" algn="r">
              <a:buNone/>
            </a:pPr>
            <a:endParaRPr kumimoji="1" lang="en-US" altLang="ja-JP" sz="1800" dirty="0"/>
          </a:p>
        </p:txBody>
      </p:sp>
      <p:graphicFrame>
        <p:nvGraphicFramePr>
          <p:cNvPr id="42" name="表 10">
            <a:extLst>
              <a:ext uri="{FF2B5EF4-FFF2-40B4-BE49-F238E27FC236}">
                <a16:creationId xmlns:a16="http://schemas.microsoft.com/office/drawing/2014/main" id="{17B90B79-93CD-7035-4CBF-1B91BD9222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7769876"/>
              </p:ext>
            </p:extLst>
          </p:nvPr>
        </p:nvGraphicFramePr>
        <p:xfrm>
          <a:off x="179511" y="1376772"/>
          <a:ext cx="8640639" cy="20200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86081">
                  <a:extLst>
                    <a:ext uri="{9D8B030D-6E8A-4147-A177-3AD203B41FA5}">
                      <a16:colId xmlns:a16="http://schemas.microsoft.com/office/drawing/2014/main" val="695373034"/>
                    </a:ext>
                  </a:extLst>
                </a:gridCol>
                <a:gridCol w="1201031">
                  <a:extLst>
                    <a:ext uri="{9D8B030D-6E8A-4147-A177-3AD203B41FA5}">
                      <a16:colId xmlns:a16="http://schemas.microsoft.com/office/drawing/2014/main" val="4231745138"/>
                    </a:ext>
                  </a:extLst>
                </a:gridCol>
                <a:gridCol w="1201031">
                  <a:extLst>
                    <a:ext uri="{9D8B030D-6E8A-4147-A177-3AD203B41FA5}">
                      <a16:colId xmlns:a16="http://schemas.microsoft.com/office/drawing/2014/main" val="3719314727"/>
                    </a:ext>
                  </a:extLst>
                </a:gridCol>
                <a:gridCol w="1201031">
                  <a:extLst>
                    <a:ext uri="{9D8B030D-6E8A-4147-A177-3AD203B41FA5}">
                      <a16:colId xmlns:a16="http://schemas.microsoft.com/office/drawing/2014/main" val="45460947"/>
                    </a:ext>
                  </a:extLst>
                </a:gridCol>
                <a:gridCol w="1199353">
                  <a:extLst>
                    <a:ext uri="{9D8B030D-6E8A-4147-A177-3AD203B41FA5}">
                      <a16:colId xmlns:a16="http://schemas.microsoft.com/office/drawing/2014/main" val="645366200"/>
                    </a:ext>
                  </a:extLst>
                </a:gridCol>
                <a:gridCol w="1426056">
                  <a:extLst>
                    <a:ext uri="{9D8B030D-6E8A-4147-A177-3AD203B41FA5}">
                      <a16:colId xmlns:a16="http://schemas.microsoft.com/office/drawing/2014/main" val="182221092"/>
                    </a:ext>
                  </a:extLst>
                </a:gridCol>
                <a:gridCol w="1426056">
                  <a:extLst>
                    <a:ext uri="{9D8B030D-6E8A-4147-A177-3AD203B41FA5}">
                      <a16:colId xmlns:a16="http://schemas.microsoft.com/office/drawing/2014/main" val="2912239471"/>
                    </a:ext>
                  </a:extLst>
                </a:gridCol>
              </a:tblGrid>
              <a:tr h="597493">
                <a:tc gridSpan="7">
                  <a:txBody>
                    <a:bodyPr/>
                    <a:lstStyle/>
                    <a:p>
                      <a:pPr algn="ctr"/>
                      <a:r>
                        <a:rPr kumimoji="1" lang="ja-JP" altLang="en-US" sz="32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アプリケーション開発グループ（合計：</a:t>
                      </a:r>
                      <a:r>
                        <a:rPr kumimoji="1" lang="en-US" altLang="ja-JP" sz="32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7</a:t>
                      </a:r>
                      <a:r>
                        <a:rPr kumimoji="1" lang="ja-JP" altLang="en-US" sz="32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名</a:t>
                      </a:r>
                      <a:r>
                        <a:rPr kumimoji="1" lang="ja-JP" altLang="en-US" sz="28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552573"/>
                  </a:ext>
                </a:extLst>
              </a:tr>
              <a:tr h="753104">
                <a:tc gridSpan="7"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辛島町オフィス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021337"/>
                  </a:ext>
                </a:extLst>
              </a:tr>
              <a:tr h="66942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木下 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田上 雄基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荒木 博士</a:t>
                      </a:r>
                      <a:endParaRPr kumimoji="1" lang="ja-JP" altLang="en-US" sz="1600" b="1" dirty="0">
                        <a:solidFill>
                          <a:srgbClr val="FF0000"/>
                        </a:solidFill>
                        <a:latin typeface="HGP明朝E" panose="02020900000000000000" pitchFamily="18" charset="-128"/>
                        <a:ea typeface="HGP明朝E" panose="020209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米村 拓美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辰巳 史佳</a:t>
                      </a:r>
                      <a:endParaRPr kumimoji="1" lang="en-US" altLang="ja-JP" sz="1600" dirty="0">
                        <a:latin typeface="HGP明朝E" panose="02020900000000000000" pitchFamily="18" charset="-128"/>
                        <a:ea typeface="HGP明朝E" panose="020209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宮本 翔生</a:t>
                      </a:r>
                      <a:endParaRPr kumimoji="1" lang="en-US" altLang="ja-JP" sz="1600" dirty="0">
                        <a:latin typeface="HGP明朝E" panose="02020900000000000000" pitchFamily="18" charset="-128"/>
                        <a:ea typeface="HGP明朝E" panose="020209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dirty="0">
                          <a:solidFill>
                            <a:srgbClr val="FF0000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中原 圭</a:t>
                      </a:r>
                      <a:endParaRPr kumimoji="1" lang="en-US" altLang="ja-JP" sz="1600" b="1" dirty="0">
                        <a:solidFill>
                          <a:srgbClr val="FF0000"/>
                        </a:solidFill>
                        <a:latin typeface="HGP明朝E" panose="02020900000000000000" pitchFamily="18" charset="-128"/>
                        <a:ea typeface="HGP明朝E" panose="02020900000000000000" pitchFamily="18" charset="-128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solidFill>
                            <a:srgbClr val="FF0000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2025</a:t>
                      </a:r>
                      <a:r>
                        <a:rPr kumimoji="1" lang="ja-JP" altLang="en-US" sz="1200" b="1" dirty="0">
                          <a:solidFill>
                            <a:srgbClr val="FF0000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年</a:t>
                      </a:r>
                      <a:r>
                        <a:rPr kumimoji="1" lang="en-US" altLang="ja-JP" sz="1200" b="1" dirty="0">
                          <a:solidFill>
                            <a:srgbClr val="FF0000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7</a:t>
                      </a:r>
                      <a:r>
                        <a:rPr kumimoji="1" lang="ja-JP" altLang="en-US" sz="1200" b="1" dirty="0">
                          <a:solidFill>
                            <a:srgbClr val="FF0000"/>
                          </a:solidFill>
                          <a:latin typeface="HGP明朝E" panose="02020900000000000000" pitchFamily="18" charset="-128"/>
                          <a:ea typeface="HGP明朝E" panose="02020900000000000000" pitchFamily="18" charset="-128"/>
                        </a:rPr>
                        <a:t>月より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612625"/>
                  </a:ext>
                </a:extLst>
              </a:tr>
            </a:tbl>
          </a:graphicData>
        </a:graphic>
      </p:graphicFrame>
      <p:sp>
        <p:nvSpPr>
          <p:cNvPr id="45" name="コンテンツ プレースホルダー 2">
            <a:extLst>
              <a:ext uri="{FF2B5EF4-FFF2-40B4-BE49-F238E27FC236}">
                <a16:creationId xmlns:a16="http://schemas.microsoft.com/office/drawing/2014/main" id="{2592EEB5-7578-D2CF-FF2F-5AB7CE0CB6E1}"/>
              </a:ext>
            </a:extLst>
          </p:cNvPr>
          <p:cNvSpPr txBox="1">
            <a:spLocks/>
          </p:cNvSpPr>
          <p:nvPr/>
        </p:nvSpPr>
        <p:spPr>
          <a:xfrm>
            <a:off x="179512" y="3609020"/>
            <a:ext cx="8604250" cy="295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4AC4"/>
              </a:buClr>
              <a:buSzPct val="70000"/>
              <a:buFont typeface="Wingdings" panose="05000000000000000000" pitchFamily="2" charset="2"/>
              <a:buChar char="n"/>
              <a:defRPr kumimoji="1"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5270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n"/>
              <a:defRPr kumimoji="1" sz="3200" b="0" i="0" u="none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8128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0795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13462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n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000" dirty="0">
                <a:latin typeface="HG明朝E" panose="02020909000000000000" pitchFamily="17" charset="-128"/>
                <a:ea typeface="HG明朝E" panose="02020909000000000000" pitchFamily="17" charset="-128"/>
              </a:rPr>
              <a:t>主業務：運用保守</a:t>
            </a:r>
            <a:endParaRPr lang="en-US" altLang="ja-JP" sz="30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1"/>
            <a:r>
              <a:rPr lang="ja-JP" altLang="en-US" sz="3000" dirty="0">
                <a:latin typeface="HG明朝E" panose="02020909000000000000" pitchFamily="17" charset="-128"/>
                <a:ea typeface="HG明朝E" panose="02020909000000000000" pitchFamily="17" charset="-128"/>
              </a:rPr>
              <a:t>プロジェクト概要</a:t>
            </a:r>
            <a:endParaRPr lang="en-US" altLang="ja-JP" sz="30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3000" dirty="0">
                <a:latin typeface="HG明朝E" panose="02020909000000000000" pitchFamily="17" charset="-128"/>
                <a:ea typeface="HG明朝E" panose="02020909000000000000" pitchFamily="17" charset="-128"/>
              </a:rPr>
              <a:t>二〇ティプロジェクト</a:t>
            </a:r>
            <a:r>
              <a:rPr lang="en-US" altLang="ja-JP" sz="3000" dirty="0">
                <a:latin typeface="HG明朝E" panose="02020909000000000000" pitchFamily="17" charset="-128"/>
                <a:ea typeface="HG明朝E" panose="02020909000000000000" pitchFamily="17" charset="-128"/>
              </a:rPr>
              <a:t>SE</a:t>
            </a:r>
            <a:r>
              <a:rPr lang="ja-JP" altLang="en-US" sz="3000" dirty="0">
                <a:latin typeface="HG明朝E" panose="02020909000000000000" pitchFamily="17" charset="-128"/>
                <a:ea typeface="HG明朝E" panose="02020909000000000000" pitchFamily="17" charset="-128"/>
              </a:rPr>
              <a:t>支援</a:t>
            </a:r>
            <a:endParaRPr lang="en-US" altLang="ja-JP" sz="30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3"/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B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〇課金システム・料〇調整システムの</a:t>
            </a:r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2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システムで運用保守</a:t>
            </a:r>
            <a:endParaRPr lang="en-US" altLang="ja-JP" sz="5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3"/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売〇債権管理システム（</a:t>
            </a:r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T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○</a:t>
            </a:r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MS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）の運用保守</a:t>
            </a:r>
            <a:endParaRPr lang="en-US" altLang="ja-JP" sz="20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850900" lvl="3" indent="0">
              <a:buNone/>
            </a:pPr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※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小規模な開発作業（</a:t>
            </a:r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UI-ST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）も含まれる。</a:t>
            </a:r>
            <a:br>
              <a:rPr lang="en-US" altLang="ja-JP" sz="800" dirty="0"/>
            </a:br>
            <a:r>
              <a:rPr lang="ja-JP" altLang="en-US" sz="800" dirty="0"/>
              <a:t>　</a:t>
            </a:r>
            <a:endParaRPr lang="en-US" altLang="ja-JP" sz="21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ja-JP" sz="3000" dirty="0">
              <a:cs typeface="メイリオ" panose="020B0604030504040204" pitchFamily="50" charset="-128"/>
            </a:endParaRPr>
          </a:p>
          <a:p>
            <a:pPr lvl="1"/>
            <a:endParaRPr lang="en-US" altLang="ja-JP" sz="3000" dirty="0">
              <a:cs typeface="メイリオ" panose="020B0604030504040204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9986D761-73C1-7271-4580-08257579F358}"/>
              </a:ext>
            </a:extLst>
          </p:cNvPr>
          <p:cNvSpPr txBox="1"/>
          <p:nvPr/>
        </p:nvSpPr>
        <p:spPr>
          <a:xfrm>
            <a:off x="6500191" y="3573665"/>
            <a:ext cx="231554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HGP明朝E" panose="02020900000000000000" pitchFamily="18" charset="-128"/>
                <a:ea typeface="HGP明朝E" panose="02020900000000000000" pitchFamily="18" charset="-128"/>
              </a:rPr>
              <a:t xml:space="preserve">村上 寛 </a:t>
            </a:r>
            <a:endParaRPr kumimoji="1" lang="en-US" altLang="ja-JP" sz="1600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ja-JP" altLang="en-US" sz="1600" dirty="0">
                <a:latin typeface="HGP明朝E" panose="02020900000000000000" pitchFamily="18" charset="-128"/>
                <a:ea typeface="HGP明朝E" panose="02020900000000000000" pitchFamily="18" charset="-128"/>
              </a:rPr>
              <a:t>長期療養から復職</a:t>
            </a:r>
            <a:endParaRPr kumimoji="1" lang="en-US" altLang="ja-JP" sz="1600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ja-JP" altLang="en-US" sz="1600" dirty="0">
                <a:latin typeface="HGP明朝E" panose="02020900000000000000" pitchFamily="18" charset="-128"/>
                <a:ea typeface="HGP明朝E" panose="02020900000000000000" pitchFamily="18" charset="-128"/>
              </a:rPr>
              <a:t>（2026年4月～完全復帰）</a:t>
            </a:r>
          </a:p>
        </p:txBody>
      </p:sp>
    </p:spTree>
    <p:extLst>
      <p:ext uri="{BB962C8B-B14F-4D97-AF65-F5344CB8AC3E}">
        <p14:creationId xmlns:p14="http://schemas.microsoft.com/office/powerpoint/2010/main" val="258427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D78E-55B0-56CD-FAEE-B591334F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F4F5C-DCDC-4DB8-5ADF-14D7EE58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２０２５年度活動実績（1/3）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4B3241-0293-18BC-815B-216D73C2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C8C177F-A41B-9C3F-448B-748F5E99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A8114354-ECFB-15A9-384A-1DB85CB8A5B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6115" y="1304076"/>
            <a:ext cx="9101578" cy="50145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4AC4"/>
              </a:buClr>
              <a:buSzPct val="70000"/>
              <a:buFont typeface="Wingdings" panose="05000000000000000000" pitchFamily="2" charset="2"/>
              <a:buChar char="n"/>
              <a:defRPr kumimoji="1"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5270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n"/>
              <a:defRPr kumimoji="1" sz="3200" b="0" i="0" u="none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8128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0795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13462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n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【外部要因】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・AWSを中心としたクラウドネイティブ化の加速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・生成AI需要増大によるシステム改修・移行案件の増加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・IT人材不足深刻化（2030年不足見込：79万人超）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【内部要因】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・長期療養中（村上寛）→ 下期より職場復帰・体制強化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・新人（中原）2025年4月業務参画 → 戦力化進む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・AWS移行作業の加速で時間外が増加（上期ピーク）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2025年度の主要作業（目標工数：平均170H/人）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・課〇CPシステム保守作業（継続）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・AWS移行作業の完了（主要システム年度内完了）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・各システムのスポット作業受注（計3件）</a:t>
            </a:r>
          </a:p>
        </p:txBody>
      </p:sp>
      <p:graphicFrame>
        <p:nvGraphicFramePr>
          <p:cNvPr id="9" name="表 23">
            <a:extLst>
              <a:ext uri="{FF2B5EF4-FFF2-40B4-BE49-F238E27FC236}">
                <a16:creationId xmlns:a16="http://schemas.microsoft.com/office/drawing/2014/main" id="{3726948D-C4A5-510D-CCE4-832C8F456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597030"/>
              </p:ext>
            </p:extLst>
          </p:nvPr>
        </p:nvGraphicFramePr>
        <p:xfrm>
          <a:off x="146210" y="4108780"/>
          <a:ext cx="8891610" cy="22071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3844">
                  <a:extLst>
                    <a:ext uri="{9D8B030D-6E8A-4147-A177-3AD203B41FA5}">
                      <a16:colId xmlns:a16="http://schemas.microsoft.com/office/drawing/2014/main" val="216575724"/>
                    </a:ext>
                  </a:extLst>
                </a:gridCol>
                <a:gridCol w="729624">
                  <a:extLst>
                    <a:ext uri="{9D8B030D-6E8A-4147-A177-3AD203B41FA5}">
                      <a16:colId xmlns:a16="http://schemas.microsoft.com/office/drawing/2014/main" val="845784960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3142881816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1833816709"/>
                    </a:ext>
                  </a:extLst>
                </a:gridCol>
                <a:gridCol w="752844">
                  <a:extLst>
                    <a:ext uri="{9D8B030D-6E8A-4147-A177-3AD203B41FA5}">
                      <a16:colId xmlns:a16="http://schemas.microsoft.com/office/drawing/2014/main" val="2334544432"/>
                    </a:ext>
                  </a:extLst>
                </a:gridCol>
                <a:gridCol w="594413">
                  <a:extLst>
                    <a:ext uri="{9D8B030D-6E8A-4147-A177-3AD203B41FA5}">
                      <a16:colId xmlns:a16="http://schemas.microsoft.com/office/drawing/2014/main" val="1710190042"/>
                    </a:ext>
                  </a:extLst>
                </a:gridCol>
                <a:gridCol w="594413">
                  <a:extLst>
                    <a:ext uri="{9D8B030D-6E8A-4147-A177-3AD203B41FA5}">
                      <a16:colId xmlns:a16="http://schemas.microsoft.com/office/drawing/2014/main" val="127544958"/>
                    </a:ext>
                  </a:extLst>
                </a:gridCol>
                <a:gridCol w="770218">
                  <a:extLst>
                    <a:ext uri="{9D8B030D-6E8A-4147-A177-3AD203B41FA5}">
                      <a16:colId xmlns:a16="http://schemas.microsoft.com/office/drawing/2014/main" val="4205038884"/>
                    </a:ext>
                  </a:extLst>
                </a:gridCol>
                <a:gridCol w="606742">
                  <a:extLst>
                    <a:ext uri="{9D8B030D-6E8A-4147-A177-3AD203B41FA5}">
                      <a16:colId xmlns:a16="http://schemas.microsoft.com/office/drawing/2014/main" val="49337053"/>
                    </a:ext>
                  </a:extLst>
                </a:gridCol>
                <a:gridCol w="594413">
                  <a:extLst>
                    <a:ext uri="{9D8B030D-6E8A-4147-A177-3AD203B41FA5}">
                      <a16:colId xmlns:a16="http://schemas.microsoft.com/office/drawing/2014/main" val="4194432090"/>
                    </a:ext>
                  </a:extLst>
                </a:gridCol>
                <a:gridCol w="594413">
                  <a:extLst>
                    <a:ext uri="{9D8B030D-6E8A-4147-A177-3AD203B41FA5}">
                      <a16:colId xmlns:a16="http://schemas.microsoft.com/office/drawing/2014/main" val="2412073245"/>
                    </a:ext>
                  </a:extLst>
                </a:gridCol>
                <a:gridCol w="594413">
                  <a:extLst>
                    <a:ext uri="{9D8B030D-6E8A-4147-A177-3AD203B41FA5}">
                      <a16:colId xmlns:a16="http://schemas.microsoft.com/office/drawing/2014/main" val="4200463149"/>
                    </a:ext>
                  </a:extLst>
                </a:gridCol>
                <a:gridCol w="602518">
                  <a:extLst>
                    <a:ext uri="{9D8B030D-6E8A-4147-A177-3AD203B41FA5}">
                      <a16:colId xmlns:a16="http://schemas.microsoft.com/office/drawing/2014/main" val="3719206149"/>
                    </a:ext>
                  </a:extLst>
                </a:gridCol>
                <a:gridCol w="698045">
                  <a:extLst>
                    <a:ext uri="{9D8B030D-6E8A-4147-A177-3AD203B41FA5}">
                      <a16:colId xmlns:a16="http://schemas.microsoft.com/office/drawing/2014/main" val="3561712250"/>
                    </a:ext>
                  </a:extLst>
                </a:gridCol>
              </a:tblGrid>
              <a:tr h="330728">
                <a:tc gridSpan="14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2024</a:t>
                      </a:r>
                      <a:r>
                        <a:rPr kumimoji="1" lang="ja-JP" altLang="en-US" sz="14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年度売上</a:t>
                      </a:r>
                      <a:endParaRPr kumimoji="1" lang="en-US" altLang="ja-JP" sz="14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2021</a:t>
                      </a:r>
                      <a:r>
                        <a:rPr kumimoji="1" lang="ja-JP" altLang="en-US" sz="1400" dirty="0"/>
                        <a:t>年度売上実績</a:t>
                      </a:r>
                      <a:endParaRPr kumimoji="1" lang="en-US" altLang="ja-JP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en-US" altLang="ja-JP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en-US" altLang="ja-JP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en-US" altLang="ja-JP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171347"/>
                  </a:ext>
                </a:extLst>
              </a:tr>
              <a:tr h="297655"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kumimoji="1" lang="en-US" altLang="ja-JP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合計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403002"/>
                  </a:ext>
                </a:extLst>
              </a:tr>
              <a:tr h="3344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売上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5,297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5,067</a:t>
                      </a:r>
                      <a:endParaRPr kumimoji="1" lang="en-US" altLang="ja-JP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5,663</a:t>
                      </a:r>
                      <a:endParaRPr kumimoji="1" lang="en-US" altLang="ja-JP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5,755</a:t>
                      </a:r>
                      <a:endParaRPr kumimoji="1" lang="en-US" altLang="ja-JP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5,549</a:t>
                      </a:r>
                      <a:endParaRPr kumimoji="1" lang="en-US" altLang="ja-JP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5,187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5,592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5,587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5,343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4,930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5,782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65,334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2317"/>
                  </a:ext>
                </a:extLst>
              </a:tr>
              <a:tr h="2976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人員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75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803424"/>
                  </a:ext>
                </a:extLst>
              </a:tr>
              <a:tr h="48477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売上</a:t>
                      </a:r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883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845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944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959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925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930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741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799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798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905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822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964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871</a:t>
                      </a:r>
                      <a:endParaRPr kumimoji="1" lang="ja-JP" altLang="en-US" sz="12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537353"/>
                  </a:ext>
                </a:extLst>
              </a:tr>
              <a:tr h="4619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宮本</a:t>
                      </a:r>
                      <a:endParaRPr kumimoji="1" lang="en-US" altLang="ja-JP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0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参画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濱田</a:t>
                      </a:r>
                      <a:endParaRPr kumimoji="1" lang="en-US" altLang="ja-JP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000" b="1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転籍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1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391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66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7EA2-E404-17FC-68AC-1D138557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5BA0C9-914B-CFC2-DC2D-A25C60C4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179A00-D2D9-53B0-90B2-FC7A56B5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159A2C44-D493-8663-027E-1562CB3E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394924"/>
            <a:ext cx="8928100" cy="46951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2025年度活動計画実績（計画比）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目標計上工数（平均170H/人）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→ 村上寛復職（下期）で体制強化、年間通じほぼ達成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5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 xml:space="preserve">  上期：長期療養＋若手フォローで時間外増加 △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AWS有識者を増やす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→ AWS移行作業完了でチーム全体のスキルが大幅向上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5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 xml:space="preserve">  AWS SAA-C03（木下）、DVA-C02（荒木）取得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部門の新たな収入源のための準備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→ スポット作業3件切り出しに成功・新規収益確保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新人育成の取り組み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→ 2025年4月業務参画開始、下期から安定稼働 ✓</a:t>
            </a: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54F18D94-E59C-83E5-2621-D348E795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２０２５年度活動実績（2/3）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920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D164-C642-1FD4-480E-B4890B12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6A5A58-F919-C6E2-313B-9A29C0A4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2938C5-C824-C417-54E2-44F9F6FD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938DF380-AFCD-4FD8-3135-BD116D67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402232"/>
            <a:ext cx="8928100" cy="495411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AWS有識者を増やす（数値実績）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AWS移行作業完了：主要2システム → 年度内100%完了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資格取得：AWS SAA-C03（木下）、DVA-C02（荒木博士）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部門の新たな収入源のための準備（数値実績）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スポット作業3件切り出し 売上貢献：+約2,400千円 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発注元との関係深化（定期訪問・懇親会）で新規提案機会獲得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新人育成の取り組み（数値実績）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中原：2025年4月業務参画 → 下期から計上工数の約15%担当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時間外労働：上期ピーク後、下期は前年比10%減を達成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ACBAC765-1D00-F669-6D2F-CB09E244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２０２５年度活動実績（3/3）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177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8159-FEE3-F561-0B1F-B0A618F3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FDA101-E002-3B63-233B-89513BC5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474711-AA5F-6CAC-749C-EF273562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793B26CF-04D2-7E82-A02A-D5E1759EBA1F}"/>
              </a:ext>
            </a:extLst>
          </p:cNvPr>
          <p:cNvSpPr txBox="1">
            <a:spLocks/>
          </p:cNvSpPr>
          <p:nvPr/>
        </p:nvSpPr>
        <p:spPr>
          <a:xfrm>
            <a:off x="457200" y="562670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200" b="0" i="0" u="none" kern="1200">
                <a:solidFill>
                  <a:schemeClr val="accent6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２０２６年度</a:t>
            </a:r>
            <a:r>
              <a:rPr lang="ja-JP" altLang="en-US" sz="2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活動計画〔課題／課題解決策〕</a:t>
            </a:r>
            <a:endParaRPr lang="ja-JP" altLang="ja-JP" sz="28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E5849FD3-1847-1575-8B62-B9F4BFD2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402232"/>
            <a:ext cx="8928100" cy="47000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2026年度活動計画  環境分析に基づく方針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強み：AWS実績・安定運用保守・チームの高スキル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弱み：新規案件獲得力不足・要員数の少なさ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機会：AI活用需要増・移行後の新規スポット案件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脅威：IT人材獲得競争激化・要員確保の困難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【数値目標】売上：前年度比105%  原価率：目標84%以下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個人平均計上工数：175H/人/月（前年比+3%）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上期（4月-9月）計画（担当：GL）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・AWS移行完了後の知識を活かした新規提案（4月～）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・AWS上位資格取得（SAP/DVA 目標2名 担当：GL）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下期（10月-3月）計画（担当：GL）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・生成AIを活用したPoC実施（自社アプリへの第一歩）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・新人の継続育成・次期リーダー候補の選定（担当：新原）</a:t>
            </a:r>
          </a:p>
        </p:txBody>
      </p:sp>
    </p:spTree>
    <p:extLst>
      <p:ext uri="{BB962C8B-B14F-4D97-AF65-F5344CB8AC3E}">
        <p14:creationId xmlns:p14="http://schemas.microsoft.com/office/powerpoint/2010/main" val="425015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7F595-7A80-4217-93D7-DCF19B97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/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２０２５年度売上実績〔予算比〕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E8DE5BE8-7E77-4E34-92E7-08194263E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055549"/>
              </p:ext>
            </p:extLst>
          </p:nvPr>
        </p:nvGraphicFramePr>
        <p:xfrm>
          <a:off x="107504" y="1598309"/>
          <a:ext cx="8896868" cy="46970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72868">
                  <a:extLst>
                    <a:ext uri="{9D8B030D-6E8A-4147-A177-3AD203B41FA5}">
                      <a16:colId xmlns:a16="http://schemas.microsoft.com/office/drawing/2014/main" val="375856748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6676062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89122190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270099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0613917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3268466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6147773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7781971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6360419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530782375"/>
                    </a:ext>
                  </a:extLst>
                </a:gridCol>
              </a:tblGrid>
              <a:tr h="521914">
                <a:tc rowSpan="3"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２０２４年度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34515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上</a:t>
                      </a:r>
                      <a:r>
                        <a:rPr lang="ja-JP" altLang="en-US" sz="2000" b="1" dirty="0"/>
                        <a:t>　　</a:t>
                      </a:r>
                      <a:r>
                        <a:rPr kumimoji="1" lang="ja-JP" altLang="en-US" sz="20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下</a:t>
                      </a:r>
                      <a:r>
                        <a:rPr lang="ja-JP" altLang="en-US" sz="2000" b="1" dirty="0"/>
                        <a:t>　　</a:t>
                      </a:r>
                      <a:r>
                        <a:rPr kumimoji="1" lang="ja-JP" altLang="en-US" sz="20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ja-JP" altLang="en-US" sz="2000" b="1" dirty="0"/>
                        <a:t>年　　度</a:t>
                      </a:r>
                      <a:endParaRPr lang="en-US" altLang="ja-JP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832151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  <a:endParaRPr kumimoji="1"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/>
                        <a:t>予算比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  <a:endParaRPr kumimoji="1"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/>
                        <a:t>予算比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  <a:endParaRPr kumimoji="1"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予算比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465780"/>
                  </a:ext>
                </a:extLst>
              </a:tr>
              <a:tr h="825510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32,720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32,913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100.6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31,739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>
                          <a:solidFill>
                            <a:schemeClr val="tx1"/>
                          </a:solidFill>
                        </a:rPr>
                        <a:t>32,421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102.1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64,459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65,334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101.4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721930"/>
                  </a:ext>
                </a:extLst>
              </a:tr>
              <a:tr h="920497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  <a:endParaRPr kumimoji="1" lang="en-US" altLang="ja-JP" sz="1100" b="1" dirty="0"/>
                    </a:p>
                    <a:p>
                      <a:r>
                        <a:rPr lang="en-US" altLang="ja-JP" sz="1100" b="1" dirty="0"/>
                        <a:t>／人</a:t>
                      </a:r>
                      <a:endParaRPr kumimoji="1" lang="en-US" altLang="ja-JP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5,453</a:t>
                      </a:r>
                    </a:p>
                    <a:p>
                      <a:pPr algn="r"/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909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5,486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914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100.6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dirty="0"/>
                        <a:t>４</a:t>
                      </a:r>
                      <a:r>
                        <a:rPr kumimoji="1" lang="en-US" altLang="ja-JP" sz="1200" dirty="0"/>
                        <a:t>,534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756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4,988</a:t>
                      </a: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831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>
                          <a:solidFill>
                            <a:schemeClr val="tx1"/>
                          </a:solidFill>
                        </a:rPr>
                        <a:t>110.0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9,617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826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１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0,370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864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 xml:space="preserve"> 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>
                          <a:solidFill>
                            <a:schemeClr val="tx1"/>
                          </a:solidFill>
                        </a:rPr>
                        <a:t>107.8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119563"/>
                  </a:ext>
                </a:extLst>
              </a:tr>
              <a:tr h="876888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所属人数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6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36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6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36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7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42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6.5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39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6.5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78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6.3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75.6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5509157"/>
                  </a:ext>
                </a:extLst>
              </a:tr>
            </a:tbl>
          </a:graphicData>
        </a:graphic>
      </p:graphicFrame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2C6BAA92-5228-4636-BFA4-C920C6D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68888" y="6356350"/>
            <a:ext cx="2895600" cy="365125"/>
          </a:xfrm>
        </p:spPr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8951C0-B1C7-4D80-9262-863BD343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2BF6C4-C52B-4E5A-BEE3-4AB29EC9351C}"/>
              </a:ext>
            </a:extLst>
          </p:cNvPr>
          <p:cNvSpPr txBox="1"/>
          <p:nvPr/>
        </p:nvSpPr>
        <p:spPr>
          <a:xfrm>
            <a:off x="7554054" y="1321309"/>
            <a:ext cx="14487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ja-JP" altLang="en-US" sz="1200" b="1" dirty="0"/>
              <a:t>（売上単位：千円）</a:t>
            </a:r>
            <a:endParaRPr lang="ja-JP" altLang="en-US" sz="1200" b="1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6829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7F595-7A80-4217-93D7-DCF19B97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/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２０２６年度売上予算〔前年度比〕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E8DE5BE8-7E77-4E34-92E7-08194263E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92022"/>
              </p:ext>
            </p:extLst>
          </p:nvPr>
        </p:nvGraphicFramePr>
        <p:xfrm>
          <a:off x="107504" y="1598309"/>
          <a:ext cx="8896868" cy="46970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72868">
                  <a:extLst>
                    <a:ext uri="{9D8B030D-6E8A-4147-A177-3AD203B41FA5}">
                      <a16:colId xmlns:a16="http://schemas.microsoft.com/office/drawing/2014/main" val="375856748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6676062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89122190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270099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0613917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3268466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6147773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7781971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6360419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530782375"/>
                    </a:ext>
                  </a:extLst>
                </a:gridCol>
              </a:tblGrid>
              <a:tr h="521914">
                <a:tc rowSpan="3"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２０２５年度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34515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上</a:t>
                      </a:r>
                      <a:r>
                        <a:rPr lang="ja-JP" altLang="en-US" sz="1200" b="1" dirty="0"/>
                        <a:t>　　</a:t>
                      </a:r>
                      <a:r>
                        <a:rPr kumimoji="1" lang="ja-JP" altLang="en-US" sz="12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下</a:t>
                      </a:r>
                      <a:r>
                        <a:rPr lang="ja-JP" altLang="en-US" sz="1200" b="1" dirty="0"/>
                        <a:t>　　</a:t>
                      </a:r>
                      <a:r>
                        <a:rPr kumimoji="1" lang="ja-JP" altLang="en-US" sz="12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年　　度</a:t>
                      </a:r>
                      <a:endParaRPr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832151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2024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2025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前年度</a:t>
                      </a:r>
                      <a:r>
                        <a:rPr kumimoji="1" lang="ja-JP" altLang="en-US" sz="1200" b="1" dirty="0"/>
                        <a:t>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2024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2025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前年度</a:t>
                      </a:r>
                      <a:r>
                        <a:rPr kumimoji="1" lang="ja-JP" altLang="en-US" sz="1200" b="1" dirty="0"/>
                        <a:t>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2024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2025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前年度</a:t>
                      </a:r>
                      <a:r>
                        <a:rPr kumimoji="1" lang="ja-JP" altLang="en-US" sz="1200" b="1" dirty="0"/>
                        <a:t>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465780"/>
                  </a:ext>
                </a:extLst>
              </a:tr>
              <a:tr h="825510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32,913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34,900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106</a:t>
                      </a:r>
                      <a:r>
                        <a:rPr lang="ja-JP" altLang="en-US" sz="1200" dirty="0"/>
                        <a:t>.</a:t>
                      </a:r>
                      <a:r>
                        <a:rPr lang="en-US" altLang="ja-JP" sz="1200" dirty="0"/>
                        <a:t>0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>
                          <a:solidFill>
                            <a:schemeClr val="tx1"/>
                          </a:solidFill>
                        </a:rPr>
                        <a:t>32,421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36,100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111.3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65,334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71,000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dirty="0"/>
                        <a:t>108</a:t>
                      </a:r>
                      <a:r>
                        <a:rPr lang="ja-JP" altLang="en-US" sz="1200" dirty="0"/>
                        <a:t>.</a:t>
                      </a:r>
                      <a:r>
                        <a:rPr lang="en-US" altLang="ja-JP" sz="1200" dirty="0"/>
                        <a:t>7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721930"/>
                  </a:ext>
                </a:extLst>
              </a:tr>
              <a:tr h="920497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  <a:endParaRPr kumimoji="1" lang="en-US" altLang="ja-JP" sz="1100" b="1" dirty="0"/>
                    </a:p>
                    <a:p>
                      <a:r>
                        <a:rPr lang="ja-JP" altLang="en-US" sz="1100" b="1" dirty="0"/>
                        <a:t>／人</a:t>
                      </a:r>
                      <a:endParaRPr kumimoji="1" lang="ja-JP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5,486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914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4,986</a:t>
                      </a:r>
                      <a:r>
                        <a:rPr kumimoji="1" lang="ja-JP" altLang="en-US" sz="1200" dirty="0"/>
                        <a:t>　（</a:t>
                      </a:r>
                      <a:r>
                        <a:rPr kumimoji="1" lang="en-US" altLang="ja-JP" sz="1200" dirty="0"/>
                        <a:t>831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ja-JP" sz="1200" b="0" i="0" u="none" strike="noStrike" noProof="0" dirty="0">
                          <a:latin typeface="Tahoma"/>
                        </a:rPr>
                        <a:t>90.9</a:t>
                      </a:r>
                      <a:r>
                        <a:rPr lang="ja-JP" sz="1200" b="0" i="0" u="none" strike="noStrike" noProof="0" dirty="0">
                          <a:latin typeface="Tahoma"/>
                        </a:rPr>
                        <a:t>％</a:t>
                      </a:r>
                      <a:endParaRPr kumimoji="1" 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4,988</a:t>
                      </a: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831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5157</a:t>
                      </a:r>
                    </a:p>
                    <a:p>
                      <a:pPr algn="r"/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860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i="0" u="none" strike="noStrike" noProof="0" dirty="0">
                          <a:latin typeface="Tahoma"/>
                        </a:rPr>
                        <a:t>103.4</a:t>
                      </a:r>
                      <a:r>
                        <a:rPr lang="ja-JP" sz="1200" b="0" i="0" u="none" strike="noStrike" noProof="0" dirty="0">
                          <a:latin typeface="Tahoma"/>
                        </a:rPr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１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0,370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864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 xml:space="preserve"> 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10,143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845</a:t>
                      </a:r>
                      <a:r>
                        <a:rPr kumimoji="1" lang="ja-JP" altLang="en-US" sz="1200" dirty="0"/>
                        <a:t>）</a:t>
                      </a:r>
                      <a:r>
                        <a:rPr kumimoji="1" lang="en-US" altLang="ja-JP" sz="1200" dirty="0"/>
                        <a:t xml:space="preserve"> </a:t>
                      </a:r>
                      <a:endParaRPr kumimoji="1" lang="ja-JP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97</a:t>
                      </a:r>
                      <a:r>
                        <a:rPr lang="ja-JP" altLang="en-US" sz="1200" dirty="0"/>
                        <a:t>.8%</a:t>
                      </a:r>
                      <a:endParaRPr kumimoji="1" lang="ja-JP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119563"/>
                  </a:ext>
                </a:extLst>
              </a:tr>
              <a:tr h="876888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所属人数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6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36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7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42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6.5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39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7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42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6.3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75.6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7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84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5509157"/>
                  </a:ext>
                </a:extLst>
              </a:tr>
            </a:tbl>
          </a:graphicData>
        </a:graphic>
      </p:graphicFrame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2C6BAA92-5228-4636-BFA4-C920C6D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68888" y="6356350"/>
            <a:ext cx="2895600" cy="365125"/>
          </a:xfrm>
        </p:spPr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8951C0-B1C7-4D80-9262-863BD343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2BF6C4-C52B-4E5A-BEE3-4AB29EC9351C}"/>
              </a:ext>
            </a:extLst>
          </p:cNvPr>
          <p:cNvSpPr txBox="1"/>
          <p:nvPr/>
        </p:nvSpPr>
        <p:spPr>
          <a:xfrm>
            <a:off x="8171892" y="1321309"/>
            <a:ext cx="97210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ja-JP" altLang="en-US" sz="1200" dirty="0">
              <a:cs typeface="Tahoma"/>
            </a:endParaRPr>
          </a:p>
        </p:txBody>
      </p:sp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CF85CA50-5B18-8A73-CBF4-637638FB92FA}"/>
              </a:ext>
            </a:extLst>
          </p:cNvPr>
          <p:cNvSpPr txBox="1"/>
          <p:nvPr/>
        </p:nvSpPr>
        <p:spPr>
          <a:xfrm>
            <a:off x="7554054" y="1321309"/>
            <a:ext cx="14487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ja-JP" altLang="en-US" sz="1200" b="1" dirty="0"/>
              <a:t>（売上単位：千円）</a:t>
            </a:r>
            <a:endParaRPr lang="ja-JP" altLang="en-US" sz="1200" b="1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6669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33A412-11FE-E093-2905-0B777386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6600000" cy="1100000"/>
          </a:xfrm>
        </p:spPr>
        <p:txBody>
          <a:bodyPr>
            <a:normAutofit fontScale="90000"/>
          </a:bodyPr>
          <a:lstStyle/>
          <a:p>
            <a: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２０２６年度売上予算〔前年度比〕</a:t>
            </a:r>
            <a:br>
              <a:rPr lang="en-US" altLang="ja-JP" sz="28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  <a:t>・主要因／課題　・具体策　・中期的施策</a:t>
            </a:r>
            <a:b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endParaRPr lang="ja-JP" altLang="en-US" sz="28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C61101-C56B-195B-1C58-D52B6238D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【2025年度 業績概況（概算）】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売上：前年度比 101.5%（スポット作業寄与）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原価率：84.8%（時間外増による人件費UP）  利益率：15.2%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【2026年度 数値目標】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売上：前年度比 105%  個人平均：175H/人/月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原価率：目標 84%以下  利益率：目標 16%以上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主要因（前年度の課題）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目標工数（170H）達成も時間外が高止まり → 効率化急務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AWS移行完了後の次案件確保が不十分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【施策】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新規スポット案件の積極的な切り出し（担当：GL）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生成AIを活用した業務効率化（時間外10%削減目標）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8015BF-04A7-9155-3011-EF786769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51A870-0E5A-D5DA-2FC9-F6509111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9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55283-CA29-45E0-70A8-3D7BAD1F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職場環境改善活動計画および実施状況</a:t>
            </a:r>
            <a:br>
              <a:rPr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２０２５年度実績／２０２６年度計画〕</a:t>
            </a:r>
            <a:br>
              <a:rPr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endParaRPr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12418D-FE1E-9200-AC86-35C2D715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【ストレスチェック結果（2025年度）】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高ストレス者割合：21.4%（業界平均 約12%  → 要注意）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主訴：時間外労働増加・業務量過多・技術的プレッシャー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【2025年度 実施した改善活動】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Teamsを活用した気軽な相談窓口の整備（継続）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追加要員の検討・上期の時間外ピーク対策を実施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技術勉強会の定期開催（月1回）を試験実施（下期）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【2026年度 改善計画】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AI活用による業務効率化で時間外削減目標：10%減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1on1面談の定期実施（月1回 担当：新原・GL）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高ストレス者への個別フォロー体制の整備（4月～）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1D61D8-1F70-6E8B-B0A2-41D9CD40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8CDA61-2263-1D92-22F1-E77653E5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7084-B1A2-72EB-128D-2EC7683A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753E6-E8AA-940C-6776-3F0B408D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部門全般に関する問題点および課題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4A06D5-EE75-5304-0AB5-8BDF9C868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【問題点】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①AWS移行完了後の次案件確保のための営業力不足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②IT人材不足の中での採用・定着の困難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③時間外労働の高止まりと技術者の疲弊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【課題】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①生成AIを活用した業務効率化で時間外を削減する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②AWS上位資格・AI系スキルの組織的習得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③新規スポット案件の発掘と安定した工数確保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【共有・相談したい事項】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他グループとのAI活用事例・ノウハウの共有を希望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増員・要員ローテについて部門横断での調整依頼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012154-D502-59B3-0B59-4B3B9A36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76E8B8-7ED3-1140-65DA-FEDDA4B9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445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スライド 1 - &amp;quot;サポートグループ活動方針&amp;quot;&quot;/&gt;&lt;property id=&quot;20307&quot; value=&quot;256&quot;/&gt;&lt;/object&gt;&lt;object type=&quot;3&quot; unique_id=&quot;10004&quot;&gt;&lt;property id=&quot;20148&quot; value=&quot;5&quot;/&gt;&lt;property id=&quot;20300&quot; value=&quot;スライド 2 - &amp;quot;目次&amp;quot;&quot;/&gt;&lt;property id=&quot;20307&quot; value=&quot;257&quot;/&gt;&lt;/object&gt;&lt;object type=&quot;3&quot; unique_id=&quot;10011&quot;&gt;&lt;property id=&quot;20148&quot; value=&quot;5&quot;/&gt;&lt;property id=&quot;20300&quot; value=&quot;スライド 4 - &amp;quot;２．平成29年度振り返り&amp;quot;&quot;/&gt;&lt;property id=&quot;20307&quot; value=&quot;261&quot;/&gt;&lt;/object&gt;&lt;object type=&quot;3&quot; unique_id=&quot;10012&quot;&gt;&lt;property id=&quot;20148&quot; value=&quot;5&quot;/&gt;&lt;property id=&quot;20300&quot; value=&quot;スライド 5 - &amp;quot;２．平成29年度振り返り&amp;quot;&quot;/&gt;&lt;property id=&quot;20307&quot; value=&quot;270&quot;/&gt;&lt;/object&gt;&lt;object type=&quot;3&quot; unique_id=&quot;10014&quot;&gt;&lt;property id=&quot;20148&quot; value=&quot;5&quot;/&gt;&lt;property id=&quot;20300&quot; value=&quot;スライド 6 - &amp;quot;３．平成30年度活動方針&amp;quot;&quot;/&gt;&lt;property id=&quot;20307&quot; value=&quot;263&quot;/&gt;&lt;/object&gt;&lt;object type=&quot;3&quot; unique_id=&quot;10016&quot;&gt;&lt;property id=&quot;20148&quot; value=&quot;5&quot;/&gt;&lt;property id=&quot;20300&quot; value=&quot;スライド 7 - &amp;quot;４．取り組みついて&amp;quot;&quot;/&gt;&lt;property id=&quot;20307&quot; value=&quot;262&quot;/&gt;&lt;/object&gt;&lt;object type=&quot;3&quot; unique_id=&quot;10017&quot;&gt;&lt;property id=&quot;20148&quot; value=&quot;5&quot;/&gt;&lt;property id=&quot;20300&quot; value=&quot;スライド 8 - &amp;quot;４．取り組みついて&amp;quot;&quot;/&gt;&lt;property id=&quot;20307&quot; value=&quot;271&quot;/&gt;&lt;/object&gt;&lt;object type=&quot;3&quot; unique_id=&quot;10019&quot;&gt;&lt;property id=&quot;20148&quot; value=&quot;5&quot;/&gt;&lt;property id=&quot;20300&quot; value=&quot;スライド 9 - &amp;quot;５．その他&amp;quot;&quot;/&gt;&lt;property id=&quot;20307&quot; value=&quot;264&quot;/&gt;&lt;/object&gt;&lt;object type=&quot;3&quot; unique_id=&quot;10289&quot;&gt;&lt;property id=&quot;20148&quot; value=&quot;5&quot;/&gt;&lt;property id=&quot;20300&quot; value=&quot;スライド 3 - &amp;quot;１．業務概要&amp;quot;&quot;/&gt;&lt;property id=&quot;20307&quot; value=&quot;272&quot;/&gt;&lt;/object&gt;&lt;/object&gt;&lt;object type=&quot;8&quot; unique_id=&quot;1003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フォントパターン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
<Relationships xmlns="http://schemas.openxmlformats.org/package/2006/relationships">
  <Relationship Id="rId1" Type="http://schemas.openxmlformats.org/officeDocument/2006/relationships/customXmlProps" Target="itemProps1.xml"/>
</Relationships>

</file>

<file path=customXml/_rels/item2.xml.rels><?xml version="1.0" encoding="utf-8"?>
<Relationships xmlns="http://schemas.openxmlformats.org/package/2006/relationships">
  <Relationship Id="rId1" Type="http://schemas.openxmlformats.org/officeDocument/2006/relationships/customXmlProps" Target="itemProps2.xml"/>
</Relationships>
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B5676603D3D7E4088D7F8BA888C0B38" ma:contentTypeVersion="11" ma:contentTypeDescription="新しいドキュメントを作成します。" ma:contentTypeScope="" ma:versionID="e8cce42e48631da57ae73c6f2eb06cb9">
  <xsd:schema xmlns:xsd="http://www.w3.org/2001/XMLSchema" xmlns:xs="http://www.w3.org/2001/XMLSchema" xmlns:p="http://schemas.microsoft.com/office/2006/metadata/properties" xmlns:ns2="7818e5c9-ea08-4db5-acf3-0f4e9d7fe225" xmlns:ns3="5bf549c9-ca1a-4af3-b3ec-063fde923eda" targetNamespace="http://schemas.microsoft.com/office/2006/metadata/properties" ma:root="true" ma:fieldsID="745bb19d395c36be537a4e30870eb6be" ns2:_="" ns3:_="">
    <xsd:import namespace="7818e5c9-ea08-4db5-acf3-0f4e9d7fe225"/>
    <xsd:import namespace="5bf549c9-ca1a-4af3-b3ec-063fde923e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8e5c9-ea08-4db5-acf3-0f4e9d7fe2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3ce16e77-bf55-4ce4-9b91-b6c08d7ad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f549c9-ca1a-4af3-b3ec-063fde923ed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fde363-e762-4857-b719-47c3982a3842}" ma:internalName="TaxCatchAll" ma:showField="CatchAllData" ma:web="5bf549c9-ca1a-4af3-b3ec-063fde923e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9D1714-3726-46FC-A09F-17CE01220B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33C95-28B3-4BEF-89EA-0F1C4ECA5534}">
  <ds:schemaRefs>
    <ds:schemaRef ds:uri="5bf549c9-ca1a-4af3-b3ec-063fde923eda"/>
    <ds:schemaRef ds:uri="7818e5c9-ea08-4db5-acf3-0f4e9d7fe2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3793</TotalTime>
  <Words>1555</Words>
  <Application>Microsoft Office PowerPoint</Application>
  <PresentationFormat>画面に合わせる (4:3)</PresentationFormat>
  <Paragraphs>321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3" baseType="lpstr">
      <vt:lpstr>HGP明朝E</vt:lpstr>
      <vt:lpstr>HGS明朝E</vt:lpstr>
      <vt:lpstr>HG明朝E</vt:lpstr>
      <vt:lpstr>ＭＳ Ｐゴシック</vt:lpstr>
      <vt:lpstr>メイリオ</vt:lpstr>
      <vt:lpstr>游ゴシック</vt:lpstr>
      <vt:lpstr>Arial</vt:lpstr>
      <vt:lpstr>Calibri</vt:lpstr>
      <vt:lpstr>Tahoma</vt:lpstr>
      <vt:lpstr>Wingdings</vt:lpstr>
      <vt:lpstr>Office ​​テーマ</vt:lpstr>
      <vt:lpstr>２０２６年度活動方針検討会 　２０２５年度活動実績 　　　　　／２０２６年度活動計画</vt:lpstr>
      <vt:lpstr>目　次</vt:lpstr>
      <vt:lpstr>部門概要（２０２５年度／２０２６年度）</vt:lpstr>
      <vt:lpstr>２０２５年度活動実績（1/3）</vt:lpstr>
      <vt:lpstr>２０２５年度活動実績（2/3）</vt:lpstr>
      <vt:lpstr>２０２５年度活動実績（3/3）</vt:lpstr>
      <vt:lpstr>PowerPoint プレゼンテーション</vt:lpstr>
      <vt:lpstr>２０２５年度売上実績〔予算比〕</vt:lpstr>
      <vt:lpstr>２０２６年度売上予算〔前年度比〕</vt:lpstr>
      <vt:lpstr>２０２６年度売上予算〔前年度比〕 ・主要因／課題　・具体策　・中期的施策 </vt:lpstr>
      <vt:lpstr>職場環境改善活動計画および実施状況 ２０２５年度実績／２０２６年度計画〕 </vt:lpstr>
      <vt:lpstr>部門全般に関する問題点および課題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olivia</dc:creator>
  <cp:lastModifiedBy>新原 昭彦</cp:lastModifiedBy>
  <cp:revision>33</cp:revision>
  <cp:lastPrinted>2021-06-29T07:05:59Z</cp:lastPrinted>
  <dcterms:created xsi:type="dcterms:W3CDTF">2015-07-04T02:17:15Z</dcterms:created>
  <dcterms:modified xsi:type="dcterms:W3CDTF">2026-06-11T08:18:59Z</dcterms:modified>
</cp:coreProperties>
</file>