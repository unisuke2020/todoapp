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
<Relationships xmlns="http://schemas.openxmlformats.org/package/2006/relationships">
  <Relationship Id="rId3" Type="http://schemas.openxmlformats.org/officeDocument/2006/relationships/extended-properties" Target="docProps/app.xml"/>
  <Relationship Id="rId2" Type="http://schemas.openxmlformats.org/package/2006/relationships/metadata/core-properties" Target="docProps/core.xml"/>
  <Relationship Id="rId1" Type="http://schemas.openxmlformats.org/officeDocument/2006/relationships/officeDocument" Target="ppt/presentation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6" r:id="rId3"/>
  </p:sldMasterIdLst>
  <p:notesMasterIdLst>
    <p:notesMasterId r:id="rId18"/>
  </p:notesMasterIdLst>
  <p:handoutMasterIdLst>
    <p:handoutMasterId r:id="rId19"/>
  </p:handoutMasterIdLst>
  <p:sldIdLst>
    <p:sldId id="256" r:id="rId4"/>
    <p:sldId id="257" r:id="rId5"/>
    <p:sldId id="306" r:id="rId6"/>
    <p:sldId id="297" r:id="rId7"/>
    <p:sldId id="308" r:id="rId8"/>
    <p:sldId id="309" r:id="rId9"/>
    <p:sldId id="310" r:id="rId10"/>
    <p:sldId id="298" r:id="rId11"/>
    <p:sldId id="311" r:id="rId12"/>
    <p:sldId id="293" r:id="rId13"/>
    <p:sldId id="294" r:id="rId14"/>
    <p:sldId id="295" r:id="rId15"/>
    <p:sldId id="296" r:id="rId16"/>
    <p:sldId id="300" r:id="rId17"/>
  </p:sldIdLst>
  <p:sldSz cx="9144000" cy="6858000" type="screen4x3"/>
  <p:notesSz cx="6807200" cy="9939338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284" userDrawn="1">
          <p15:clr>
            <a:srgbClr val="A4A3A4"/>
          </p15:clr>
        </p15:guide>
        <p15:guide id="3" pos="136">
          <p15:clr>
            <a:srgbClr val="A4A3A4"/>
          </p15:clr>
        </p15:guide>
        <p15:guide id="4" pos="5556">
          <p15:clr>
            <a:srgbClr val="A4A3A4"/>
          </p15:clr>
        </p15:guide>
        <p15:guide id="5" pos="11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746" y="96"/>
      </p:cViewPr>
      <p:guideLst>
        <p:guide orient="horz" pos="2160"/>
        <p:guide pos="5284"/>
        <p:guide pos="136"/>
        <p:guide pos="5556"/>
        <p:guide pos="11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?>
<Relationships xmlns="http://schemas.openxmlformats.org/package/2006/relationships">
  <Relationship Id="rId8" Type="http://schemas.openxmlformats.org/officeDocument/2006/relationships/slide" Target="slides/slide5.xml"/>
  <Relationship Id="rId13" Type="http://schemas.openxmlformats.org/officeDocument/2006/relationships/slide" Target="slides/slide10.xml"/>
  <Relationship Id="rId18" Type="http://schemas.openxmlformats.org/officeDocument/2006/relationships/notesMaster" Target="notesMasters/notesMaster1.xml"/>
  <Relationship Id="rId3" Type="http://schemas.openxmlformats.org/officeDocument/2006/relationships/slideMaster" Target="slideMasters/slideMaster1.xml"/>
  <Relationship Id="rId21" Type="http://schemas.openxmlformats.org/officeDocument/2006/relationships/presProps" Target="presProps.xml"/>
  <Relationship Id="rId7" Type="http://schemas.openxmlformats.org/officeDocument/2006/relationships/slide" Target="slides/slide4.xml"/>
  <Relationship Id="rId12" Type="http://schemas.openxmlformats.org/officeDocument/2006/relationships/slide" Target="slides/slide9.xml"/>
  <Relationship Id="rId17" Type="http://schemas.openxmlformats.org/officeDocument/2006/relationships/slide" Target="slides/slide14.xml"/>
  <Relationship Id="rId25" Type="http://schemas.microsoft.com/office/2016/11/relationships/changesInfo" Target="changesInfos/changesInfo1.xml"/>
  <Relationship Id="rId2" Type="http://schemas.openxmlformats.org/officeDocument/2006/relationships/customXml" Target="../customXml/item2.xml"/>
  <Relationship Id="rId16" Type="http://schemas.openxmlformats.org/officeDocument/2006/relationships/slide" Target="slides/slide13.xml"/>
  <Relationship Id="rId20" Type="http://schemas.openxmlformats.org/officeDocument/2006/relationships/tags" Target="tags/tag1.xml"/>
  <Relationship Id="rId1" Type="http://schemas.openxmlformats.org/officeDocument/2006/relationships/customXml" Target="../customXml/item1.xml"/>
  <Relationship Id="rId6" Type="http://schemas.openxmlformats.org/officeDocument/2006/relationships/slide" Target="slides/slide3.xml"/>
  <Relationship Id="rId11" Type="http://schemas.openxmlformats.org/officeDocument/2006/relationships/slide" Target="slides/slide8.xml"/>
  <Relationship Id="rId24" Type="http://schemas.openxmlformats.org/officeDocument/2006/relationships/tableStyles" Target="tableStyles.xml"/>
  <Relationship Id="rId5" Type="http://schemas.openxmlformats.org/officeDocument/2006/relationships/slide" Target="slides/slide2.xml"/>
  <Relationship Id="rId15" Type="http://schemas.openxmlformats.org/officeDocument/2006/relationships/slide" Target="slides/slide12.xml"/>
  <Relationship Id="rId23" Type="http://schemas.openxmlformats.org/officeDocument/2006/relationships/theme" Target="theme/theme1.xml"/>
  <Relationship Id="rId10" Type="http://schemas.openxmlformats.org/officeDocument/2006/relationships/slide" Target="slides/slide7.xml"/>
  <Relationship Id="rId19" Type="http://schemas.openxmlformats.org/officeDocument/2006/relationships/handoutMaster" Target="handoutMasters/handoutMaster1.xml"/>
  <Relationship Id="rId4" Type="http://schemas.openxmlformats.org/officeDocument/2006/relationships/slide" Target="slides/slide1.xml"/>
  <Relationship Id="rId9" Type="http://schemas.openxmlformats.org/officeDocument/2006/relationships/slide" Target="slides/slide6.xml"/>
  <Relationship Id="rId14" Type="http://schemas.openxmlformats.org/officeDocument/2006/relationships/slide" Target="slides/slide11.xml"/>
  <Relationship Id="rId22" Type="http://schemas.openxmlformats.org/officeDocument/2006/relationships/viewProps" Target="viewProps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新原 昭彦" userId="9728fe06-e3c9-46f3-954f-d9acf209a338" providerId="ADAL" clId="{629528BB-12BC-4930-9B74-415CD7C802B7}"/>
    <pc:docChg chg="undo custSel addSld modSld">
      <pc:chgData name="新原 昭彦" userId="9728fe06-e3c9-46f3-954f-d9acf209a338" providerId="ADAL" clId="{629528BB-12BC-4930-9B74-415CD7C802B7}" dt="2025-07-06T22:30:32.465" v="635" actId="20577"/>
      <pc:docMkLst>
        <pc:docMk/>
      </pc:docMkLst>
      <pc:sldChg chg="modSp mod">
        <pc:chgData name="新原 昭彦" userId="9728fe06-e3c9-46f3-954f-d9acf209a338" providerId="ADAL" clId="{629528BB-12BC-4930-9B74-415CD7C802B7}" dt="2025-07-06T22:30:32.465" v="635" actId="20577"/>
        <pc:sldMkLst>
          <pc:docMk/>
          <pc:sldMk cId="1731703217" sldId="298"/>
        </pc:sldMkLst>
        <pc:spChg chg="mod">
          <ac:chgData name="新原 昭彦" userId="9728fe06-e3c9-46f3-954f-d9acf209a338" providerId="ADAL" clId="{629528BB-12BC-4930-9B74-415CD7C802B7}" dt="2025-07-06T19:23:09.832" v="18"/>
          <ac:spMkLst>
            <pc:docMk/>
            <pc:sldMk cId="1731703217" sldId="298"/>
            <ac:spMk id="2" creationId="{68DCFA89-7A11-7CCD-110F-5E4C2F622E88}"/>
          </ac:spMkLst>
        </pc:spChg>
        <pc:spChg chg="mod">
          <ac:chgData name="新原 昭彦" userId="9728fe06-e3c9-46f3-954f-d9acf209a338" providerId="ADAL" clId="{629528BB-12BC-4930-9B74-415CD7C802B7}" dt="2025-07-06T22:30:32.465" v="635" actId="20577"/>
          <ac:spMkLst>
            <pc:docMk/>
            <pc:sldMk cId="1731703217" sldId="298"/>
            <ac:spMk id="3" creationId="{52020D1C-8F83-7F5B-1DF1-B7A9611ABB64}"/>
          </ac:spMkLst>
        </pc:spChg>
      </pc:sldChg>
      <pc:sldChg chg="modSp add mod">
        <pc:chgData name="新原 昭彦" userId="9728fe06-e3c9-46f3-954f-d9acf209a338" providerId="ADAL" clId="{629528BB-12BC-4930-9B74-415CD7C802B7}" dt="2025-07-06T19:23:29.205" v="24"/>
        <pc:sldMkLst>
          <pc:docMk/>
          <pc:sldMk cId="337760115" sldId="311"/>
        </pc:sldMkLst>
        <pc:spChg chg="mod">
          <ac:chgData name="新原 昭彦" userId="9728fe06-e3c9-46f3-954f-d9acf209a338" providerId="ADAL" clId="{629528BB-12BC-4930-9B74-415CD7C802B7}" dt="2025-07-06T19:23:29.205" v="24"/>
          <ac:spMkLst>
            <pc:docMk/>
            <pc:sldMk cId="337760115" sldId="311"/>
            <ac:spMk id="2" creationId="{482A8906-602E-5A7D-677F-CF894218E0DA}"/>
          </ac:spMkLst>
        </pc:spChg>
      </pc:sldChg>
    </pc:docChg>
  </pc:docChgLst>
  <pc:docChgLst>
    <pc:chgData name="新原 昭彦" userId="9728fe06-e3c9-46f3-954f-d9acf209a338" providerId="ADAL" clId="{E0619A0E-8093-4E95-BDE4-E55F8A8BDA48}"/>
    <pc:docChg chg="custSel modSld">
      <pc:chgData name="新原 昭彦" userId="9728fe06-e3c9-46f3-954f-d9acf209a338" providerId="ADAL" clId="{E0619A0E-8093-4E95-BDE4-E55F8A8BDA48}" dt="2025-07-04T08:10:23.002" v="310"/>
      <pc:docMkLst>
        <pc:docMk/>
      </pc:docMkLst>
      <pc:sldChg chg="modSp mod">
        <pc:chgData name="新原 昭彦" userId="9728fe06-e3c9-46f3-954f-d9acf209a338" providerId="ADAL" clId="{E0619A0E-8093-4E95-BDE4-E55F8A8BDA48}" dt="2025-07-04T08:08:47.769" v="279" actId="20577"/>
        <pc:sldMkLst>
          <pc:docMk/>
          <pc:sldMk cId="4168291961" sldId="293"/>
        </pc:sldMkLst>
        <pc:graphicFrameChg chg="mod modGraphic">
          <ac:chgData name="新原 昭彦" userId="9728fe06-e3c9-46f3-954f-d9acf209a338" providerId="ADAL" clId="{E0619A0E-8093-4E95-BDE4-E55F8A8BDA48}" dt="2025-07-04T08:08:47.769" v="279" actId="20577"/>
          <ac:graphicFrameMkLst>
            <pc:docMk/>
            <pc:sldMk cId="4168291961" sldId="293"/>
            <ac:graphicFrameMk id="5" creationId="{E8DE5BE8-7E77-4E34-92E7-08194263EDD1}"/>
          </ac:graphicFrameMkLst>
        </pc:graphicFrameChg>
      </pc:sldChg>
      <pc:sldChg chg="modSp mod">
        <pc:chgData name="新原 昭彦" userId="9728fe06-e3c9-46f3-954f-d9acf209a338" providerId="ADAL" clId="{E0619A0E-8093-4E95-BDE4-E55F8A8BDA48}" dt="2025-07-04T08:10:23.002" v="310"/>
        <pc:sldMkLst>
          <pc:docMk/>
          <pc:sldMk cId="1766690515" sldId="294"/>
        </pc:sldMkLst>
        <pc:graphicFrameChg chg="mod modGraphic">
          <ac:chgData name="新原 昭彦" userId="9728fe06-e3c9-46f3-954f-d9acf209a338" providerId="ADAL" clId="{E0619A0E-8093-4E95-BDE4-E55F8A8BDA48}" dt="2025-07-04T08:10:23.002" v="310"/>
          <ac:graphicFrameMkLst>
            <pc:docMk/>
            <pc:sldMk cId="1766690515" sldId="294"/>
            <ac:graphicFrameMk id="5" creationId="{E8DE5BE8-7E77-4E34-92E7-08194263EDD1}"/>
          </ac:graphicFrameMkLst>
        </pc:graphicFrameChg>
      </pc:sldChg>
    </pc:docChg>
  </pc:docChgLst>
</pc:chgInfo>
</file>

<file path=ppt/handoutMasters/_rels/handoutMaster1.xml.rels><?xml version="1.0" encoding="utf-8"?>
<Relationships xmlns="http://schemas.openxmlformats.org/package/2006/relationships">
  <Relationship Id="rId1" Type="http://schemas.openxmlformats.org/officeDocument/2006/relationships/theme" Target="../theme/theme3.xml"/>
</Relationships>
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6D116-4C40-4B0D-B5A6-0A72699EF9DE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7C5EC-2984-40D6-8773-7E657B9AA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34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
  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9440B-20E2-4703-BEA5-00C8CB1339E9}" type="datetimeFigureOut">
              <a:rPr kumimoji="1" lang="ja-JP" altLang="en-US" smtClean="0"/>
              <a:t>2026/6/11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9C373-6AD9-45D2-90C0-0F204C038A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9237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
  <Relationship Id="rId2" Type="http://schemas.openxmlformats.org/officeDocument/2006/relationships/slide" Target="../slides/slide1.xml"/>
  <Relationship Id="rId1" Type="http://schemas.openxmlformats.org/officeDocument/2006/relationships/notesMaster" Target="../notesMasters/notesMaster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9C373-6AD9-45D2-90C0-0F204C038A4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1259830"/>
      </p:ext>
    </p:extLst>
  </p:cSld>
  <p:clrMapOvr>
    <a:masterClrMapping/>
  </p:clrMapOvr>
</p:notes>
</file>

<file path=ppt/slideLayouts/_rels/slideLayout1.xml.rels><?xml version="1.0" encoding="utf-8"?>
<Relationships xmlns="http://schemas.openxmlformats.org/package/2006/relationships">
  <Relationship Id="rId2" Type="http://schemas.openxmlformats.org/officeDocument/2006/relationships/image" Target="../media/image2.png"/>
  <Relationship Id="rId1" Type="http://schemas.openxmlformats.org/officeDocument/2006/relationships/slideMaster" Target="../slideMasters/slideMaster1.xml"/>
</Relationships>

</file>

<file path=ppt/slideLayouts/_rels/slideLayout2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3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4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5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6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7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8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9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0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_rels/slideLayout1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365673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725144"/>
            <a:ext cx="6400800" cy="91365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2" name="Line 8"/>
          <p:cNvSpPr>
            <a:spLocks noChangeShapeType="1"/>
          </p:cNvSpPr>
          <p:nvPr userDrawn="1"/>
        </p:nvSpPr>
        <p:spPr bwMode="auto">
          <a:xfrm>
            <a:off x="971550" y="3213100"/>
            <a:ext cx="7200900" cy="0"/>
          </a:xfrm>
          <a:prstGeom prst="line">
            <a:avLst/>
          </a:prstGeom>
          <a:noFill/>
          <a:ln w="76200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pic>
        <p:nvPicPr>
          <p:cNvPr id="13" name="Picture 151" descr="D:\olivia\Desktop\熊本　ナトーハイシステムズ.files\top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69851"/>
            <a:ext cx="28575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日付プレースホルダー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B710-1CE3-42CE-AD39-30449033B0C5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15" name="フッター プレースホルダー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altLang="ja-JP"/>
              <a:t>Copyright(c) 2025 NATO HIGHSYSTEMS</a:t>
            </a:r>
          </a:p>
        </p:txBody>
      </p:sp>
      <p:sp>
        <p:nvSpPr>
          <p:cNvPr id="16" name="スライド番号プレースホルダー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 userDrawn="1"/>
        </p:nvSpPr>
        <p:spPr bwMode="auto">
          <a:xfrm>
            <a:off x="9055100" y="0"/>
            <a:ext cx="125412" cy="6858000"/>
          </a:xfrm>
          <a:prstGeom prst="rect">
            <a:avLst/>
          </a:prstGeom>
          <a:solidFill>
            <a:srgbClr val="F2770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endParaRPr lang="ja-JP" altLang="en-US">
              <a:solidFill>
                <a:srgbClr val="F277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30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C613B-3FEC-4873-9651-D746247E29E1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3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81328"/>
            <a:ext cx="2133600" cy="365125"/>
          </a:xfrm>
        </p:spPr>
        <p:txBody>
          <a:bodyPr/>
          <a:lstStyle/>
          <a:p>
            <a:fld id="{6FB92ACF-F8B5-4FC5-898F-E3FC4B91A206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6084168" y="6381328"/>
            <a:ext cx="2895600" cy="365125"/>
          </a:xfrm>
        </p:spPr>
        <p:txBody>
          <a:bodyPr/>
          <a:lstStyle>
            <a:lvl1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r"/>
            <a:r>
              <a:rPr lang="en-US" altLang="ja-JP">
                <a:ea typeface="Tahoma" panose="020B0604030504040204" pitchFamily="34" charset="0"/>
              </a:rPr>
              <a:t>Copyright(c) 2025 NATO HIGHSYSTEMS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3347864" y="6381328"/>
            <a:ext cx="2133600" cy="365125"/>
          </a:xfrm>
        </p:spPr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2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D814-CA40-4BA2-B4AD-916B946FD2BA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9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F4650-E2DE-4F4A-B297-963072CCA192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8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ADD84-EB9A-4F09-A9E3-0EA8C061D175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53840-5429-4A99-9B80-320A5F7712CF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06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 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9BAD8-DFB7-4EE4-9CF1-E77A98FE2825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0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1D90-D433-4A0A-BF00-86248E709A43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21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80385-463A-40B2-9F20-C72A5788B180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8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 xml:space="preserve">第 </a:t>
            </a:r>
            <a:r>
              <a:rPr kumimoji="1" lang="en-US" altLang="ja-JP"/>
              <a:t xml:space="preserve"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29387-B1A4-4BF7-A935-E3BF7350AAC9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2025 NATO HIGHSYSTEMS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15886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
  <Relationship Id="rId8" Type="http://schemas.openxmlformats.org/officeDocument/2006/relationships/slideLayout" Target="../slideLayouts/slideLayout8.xml"/>
  <Relationship Id="rId13" Type="http://schemas.openxmlformats.org/officeDocument/2006/relationships/image" Target="../media/image1.png"/>
  <Relationship Id="rId3" Type="http://schemas.openxmlformats.org/officeDocument/2006/relationships/slideLayout" Target="../slideLayouts/slideLayout3.xml"/>
  <Relationship Id="rId7" Type="http://schemas.openxmlformats.org/officeDocument/2006/relationships/slideLayout" Target="../slideLayouts/slideLayout7.xml"/>
  <Relationship Id="rId12" Type="http://schemas.openxmlformats.org/officeDocument/2006/relationships/theme" Target="../theme/theme1.xml"/>
  <Relationship Id="rId2" Type="http://schemas.openxmlformats.org/officeDocument/2006/relationships/slideLayout" Target="../slideLayouts/slideLayout2.xml"/>
  <Relationship Id="rId1" Type="http://schemas.openxmlformats.org/officeDocument/2006/relationships/slideLayout" Target="../slideLayouts/slideLayout1.xml"/>
  <Relationship Id="rId6" Type="http://schemas.openxmlformats.org/officeDocument/2006/relationships/slideLayout" Target="../slideLayouts/slideLayout6.xml"/>
  <Relationship Id="rId11" Type="http://schemas.openxmlformats.org/officeDocument/2006/relationships/slideLayout" Target="../slideLayouts/slideLayout11.xml"/>
  <Relationship Id="rId5" Type="http://schemas.openxmlformats.org/officeDocument/2006/relationships/slideLayout" Target="../slideLayouts/slideLayout5.xml"/>
  <Relationship Id="rId10" Type="http://schemas.openxmlformats.org/officeDocument/2006/relationships/slideLayout" Target="../slideLayouts/slideLayout10.xml"/>
  <Relationship Id="rId4" Type="http://schemas.openxmlformats.org/officeDocument/2006/relationships/slideLayout" Target="../slideLayouts/slideLayout4.xml"/>
  <Relationship Id="rId9" Type="http://schemas.openxmlformats.org/officeDocument/2006/relationships/slideLayout" Target="../slideLayouts/slideLayout9.xml"/>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 xml:space="preserve">第 </a:t>
            </a:r>
            <a:r>
              <a:rPr lang="en-US" altLang="ja-JP"/>
              <a:t xml:space="preserve"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 xml:space="preserve">第 </a:t>
            </a:r>
            <a:r>
              <a:rPr lang="en-US" altLang="ja-JP"/>
              <a:t xml:space="preserve"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 xml:space="preserve">第 </a:t>
            </a:r>
            <a:r>
              <a:rPr lang="en-US" altLang="ja-JP"/>
              <a:t xml:space="preserve"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 xml:space="preserve">第 </a:t>
            </a:r>
            <a:r>
              <a:rPr lang="en-US" altLang="ja-JP"/>
              <a:t xml:space="preserve"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F859F-75BD-46B4-A4F3-99C7E43997AB}" type="datetime1">
              <a:rPr lang="ja-JP" altLang="en-US" smtClean="0"/>
              <a:t>2026/6/11</a:t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6068888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 altLang="ja-JP"/>
              <a:t>Copyright(c) 2025 NATO HIGHSYSTEMS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355976" y="6356350"/>
            <a:ext cx="5618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9"/>
          <p:cNvSpPr>
            <a:spLocks noChangeArrowheads="1"/>
          </p:cNvSpPr>
          <p:nvPr userDrawn="1"/>
        </p:nvSpPr>
        <p:spPr bwMode="auto">
          <a:xfrm>
            <a:off x="9055100" y="0"/>
            <a:ext cx="125412" cy="6858000"/>
          </a:xfrm>
          <a:prstGeom prst="rect">
            <a:avLst/>
          </a:prstGeom>
          <a:solidFill>
            <a:srgbClr val="F2770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itchFamily="2" charset="2"/>
              <a:defRPr kumimoji="1"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eaLnBrk="1" hangingPunct="1"/>
            <a:endParaRPr lang="ja-JP" altLang="en-US">
              <a:solidFill>
                <a:srgbClr val="F2770C"/>
              </a:solidFill>
            </a:endParaRPr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179387" y="1252538"/>
            <a:ext cx="8640000" cy="0"/>
          </a:xfrm>
          <a:prstGeom prst="line">
            <a:avLst/>
          </a:prstGeom>
          <a:noFill/>
          <a:ln w="762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pic>
        <p:nvPicPr>
          <p:cNvPr id="11" name="Picture 159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286" y="136525"/>
            <a:ext cx="1822202" cy="47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8315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kumimoji="1" sz="3200" b="0" i="0" u="none" kern="1200">
          <a:solidFill>
            <a:schemeClr val="accent6">
              <a:lumMod val="7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4AC4"/>
        </a:buClr>
        <a:buSzPct val="70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527050" indent="-28575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SzPct val="70000"/>
        <a:buFont typeface="Wingdings" panose="05000000000000000000" pitchFamily="2" charset="2"/>
        <a:buChar char="n"/>
        <a:defRPr kumimoji="1" sz="2400" b="0" i="0" u="none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812800" indent="-228600" algn="l" defTabSz="914400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079500" indent="-228600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Wingdings" panose="05000000000000000000" pitchFamily="2" charset="2"/>
        <a:buChar char="n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346200" indent="-22860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SzPct val="70000"/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<Relationship Id="rId2" Type="http://schemas.openxmlformats.org/officeDocument/2006/relationships/notesSlide" Target="../notesSlides/notesSlide1.xml"/>
  <Relationship Id="rId1" Type="http://schemas.openxmlformats.org/officeDocument/2006/relationships/slideLayout" Target="../slideLayouts/slideLayout1.xml"/>
</Relationships>

</file>

<file path=ppt/slides/_rels/slide2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3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4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5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6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7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8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9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10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11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12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13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_rels/slide14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ja-JP" altLang="en-US" b="1" u="sng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２０２６年度活動方針検討会</a:t>
            </a:r>
            <a:b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</a:br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　</a:t>
            </a:r>
            <a:r>
              <a:rPr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２０２５年度活動実績</a:t>
            </a:r>
            <a:br>
              <a:rPr lang="en-US" altLang="ja-JP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</a:br>
            <a:r>
              <a:rPr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　　　　　／２０２６年度</a:t>
            </a:r>
            <a:r>
              <a:rPr kumimoji="1"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活動計画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437112"/>
            <a:ext cx="6400800" cy="16561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２０２６年７月１０日</a:t>
            </a:r>
          </a:p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システムインテグレーション事業部</a:t>
            </a:r>
            <a:b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</a:br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新原　昭彦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altLang="ja-JP" dirty="0"/>
              <a:t>Copyright(c) 2026 NATO HIGHSYSTEMS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A4EF98A-E40F-486A-986C-A29AF738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9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/>
          <a:lstStyle/>
          <a:p>
            <a:r>
              <a:rPr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目　次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4998" y="1421459"/>
            <a:ext cx="9026033" cy="511862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１．部門</a:t>
            </a: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概要（２０２５年度／２０２６年度）</a:t>
            </a:r>
            <a:endParaRPr lang="en-US" altLang="ja-JP" sz="30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２．２０２５</a:t>
            </a: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年度活動実績</a:t>
            </a:r>
            <a:endParaRPr lang="en-US" altLang="ja-JP" sz="30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３．２０２６</a:t>
            </a: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年度活動計画</a:t>
            </a:r>
            <a:r>
              <a:rPr lang="en-US" altLang="ja-JP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〔</a:t>
            </a: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課題／課題解決策</a:t>
            </a:r>
            <a:r>
              <a:rPr lang="en-US" altLang="ja-JP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〕</a:t>
            </a:r>
            <a:endParaRPr lang="ja-JP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４​．２０２５年度売上実績〔予算比〕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５．</a:t>
            </a:r>
            <a:r>
              <a:rPr lang="ja-JP" altLang="en-US" sz="28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２０２６年度売上予算〔前年度比〕／主要因・具体策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６．職場環境改善活動計画および実施状況</a:t>
            </a:r>
            <a:endParaRPr lang="en-US" altLang="ja-JP" sz="30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3000" b="1" dirty="0">
                <a:latin typeface="HGS明朝E" panose="02020900000000000000" pitchFamily="18" charset="-128"/>
                <a:ea typeface="HGS明朝E" panose="02020900000000000000" pitchFamily="18" charset="-128"/>
              </a:rPr>
              <a:t>７．部門全般に関する問題点および課題</a:t>
            </a:r>
            <a:endParaRPr lang="en-US" altLang="ja-JP" sz="30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0" indent="0" algn="just">
              <a:buNone/>
            </a:pPr>
            <a:endParaRPr lang="en-US" altLang="ja-JP" sz="3000" dirty="0"/>
          </a:p>
          <a:p>
            <a:pPr marL="0" indent="0">
              <a:buNone/>
            </a:pPr>
            <a:endParaRPr lang="en-US" altLang="ja-JP" sz="3000" dirty="0"/>
          </a:p>
          <a:p>
            <a:pPr marL="0" indent="0">
              <a:buNone/>
            </a:pPr>
            <a:endParaRPr lang="en-US" altLang="ja-JP" sz="3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lvl="1"/>
            <a:endParaRPr lang="en-US" altLang="ja-JP" sz="3000" dirty="0"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6120172" y="6396095"/>
            <a:ext cx="2895600" cy="365125"/>
          </a:xfrm>
        </p:spPr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9FEA42-47C8-45ED-9AD6-DE6E04A1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1">
            <a:extLst>
              <a:ext uri="{FF2B5EF4-FFF2-40B4-BE49-F238E27FC236}">
                <a16:creationId xmlns:a16="http://schemas.microsoft.com/office/drawing/2014/main" id="{25A8E812-D3EB-0797-7745-239B2AFF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ja-JP" altLang="en-US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部門概要（２０２５年度／２０２６年度）</a:t>
            </a:r>
            <a:endParaRPr lang="en-US" altLang="ja-JP" sz="3200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15" name="コンテンツ プレースホルダー 6">
            <a:extLst>
              <a:ext uri="{FF2B5EF4-FFF2-40B4-BE49-F238E27FC236}">
                <a16:creationId xmlns:a16="http://schemas.microsoft.com/office/drawing/2014/main" id="{AE0C0A34-B362-B005-51AE-FD7FB5D96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6" y="1603337"/>
            <a:ext cx="8604634" cy="4525963"/>
          </a:xfrm>
        </p:spPr>
        <p:txBody>
          <a:bodyPr/>
          <a:lstStyle/>
          <a:p>
            <a:pPr marL="241300" lvl="1" indent="0">
              <a:buNone/>
            </a:pPr>
            <a:endParaRPr lang="en-US" altLang="ja-JP" sz="24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241300" lvl="1" indent="0">
              <a:buNone/>
            </a:pPr>
            <a:endParaRPr kumimoji="1" lang="en-US" altLang="ja-JP" sz="20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pPr marL="241300" lvl="1" indent="0" algn="r">
              <a:buNone/>
            </a:pPr>
            <a:endParaRPr kumimoji="1" lang="en-US" altLang="ja-JP" sz="18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FCCAC8-3C65-3D52-BAFC-82E34B9E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 dirty="0"/>
              <a:t>Copyright(c) 2026 NATO HIGHSYSTEMS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775AA88-8925-4ED3-B650-8E3A4F98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86CE05-5F05-DC17-B88A-19CA4ECAED87}"/>
              </a:ext>
            </a:extLst>
          </p:cNvPr>
          <p:cNvSpPr/>
          <p:nvPr/>
        </p:nvSpPr>
        <p:spPr bwMode="auto">
          <a:xfrm>
            <a:off x="4091660" y="5589240"/>
            <a:ext cx="4404776" cy="818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2" tIns="45706" rIns="91412" bIns="45706" numCol="1" rtlCol="0" anchor="ctr" anchorCtr="0" compatLnSpc="1">
            <a:prstTxWarp prst="textNoShape">
              <a:avLst/>
            </a:prstTxWarp>
          </a:bodyPr>
          <a:lstStyle/>
          <a:p>
            <a:pPr defTabSz="914126"/>
            <a:endParaRPr kumimoji="1" lang="ja-JP" altLang="en-US" sz="1200" b="1" dirty="0">
              <a:solidFill>
                <a:schemeClr val="accent6">
                  <a:lumMod val="75000"/>
                </a:schemeClr>
              </a:solidFill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1851ADE-DE89-F6B1-D7AA-24C100CDFC0A}"/>
              </a:ext>
            </a:extLst>
          </p:cNvPr>
          <p:cNvSpPr/>
          <p:nvPr/>
        </p:nvSpPr>
        <p:spPr bwMode="auto">
          <a:xfrm>
            <a:off x="4091660" y="4617132"/>
            <a:ext cx="4404776" cy="818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2" tIns="45706" rIns="91412" bIns="45706" numCol="1" rtlCol="0" anchor="ctr" anchorCtr="0" compatLnSpc="1">
            <a:prstTxWarp prst="textNoShape">
              <a:avLst/>
            </a:prstTxWarp>
          </a:bodyPr>
          <a:lstStyle/>
          <a:p>
            <a:pPr defTabSz="914126"/>
            <a:endParaRPr kumimoji="1" lang="ja-JP" altLang="en-US" sz="1200" b="1" dirty="0">
              <a:solidFill>
                <a:schemeClr val="accent6">
                  <a:lumMod val="75000"/>
                </a:schemeClr>
              </a:solidFill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2F2259D-B445-167C-C8F3-71A06EF9A1F5}"/>
              </a:ext>
            </a:extLst>
          </p:cNvPr>
          <p:cNvSpPr/>
          <p:nvPr/>
        </p:nvSpPr>
        <p:spPr bwMode="auto">
          <a:xfrm>
            <a:off x="4103948" y="3645024"/>
            <a:ext cx="4404776" cy="818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2" tIns="45706" rIns="91412" bIns="45706" numCol="1" rtlCol="0" anchor="ctr" anchorCtr="0" compatLnSpc="1">
            <a:prstTxWarp prst="textNoShape">
              <a:avLst/>
            </a:prstTxWarp>
          </a:bodyPr>
          <a:lstStyle/>
          <a:p>
            <a:pPr defTabSz="914126"/>
            <a:endParaRPr kumimoji="1" lang="ja-JP" altLang="en-US" sz="1200" b="1" dirty="0">
              <a:solidFill>
                <a:schemeClr val="accent6">
                  <a:lumMod val="75000"/>
                </a:schemeClr>
              </a:solidFill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39C3398-7A5B-DEF3-613A-7FA44B4DCAAC}"/>
              </a:ext>
            </a:extLst>
          </p:cNvPr>
          <p:cNvSpPr/>
          <p:nvPr/>
        </p:nvSpPr>
        <p:spPr bwMode="auto">
          <a:xfrm>
            <a:off x="4091660" y="2699955"/>
            <a:ext cx="4404776" cy="8181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12" tIns="45706" rIns="91412" bIns="45706" numCol="1" rtlCol="0" anchor="ctr" anchorCtr="0" compatLnSpc="1">
            <a:prstTxWarp prst="textNoShape">
              <a:avLst/>
            </a:prstTxWarp>
          </a:bodyPr>
          <a:lstStyle/>
          <a:p>
            <a:pPr defTabSz="914126"/>
            <a:endParaRPr kumimoji="1" lang="ja-JP" altLang="en-US" sz="1200" b="1" dirty="0">
              <a:solidFill>
                <a:schemeClr val="accent6">
                  <a:lumMod val="75000"/>
                </a:schemeClr>
              </a:solidFill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6EBB684-A332-C442-A655-5BCB8E3B64FF}"/>
              </a:ext>
            </a:extLst>
          </p:cNvPr>
          <p:cNvCxnSpPr>
            <a:cxnSpLocks/>
            <a:endCxn id="34" idx="6"/>
          </p:cNvCxnSpPr>
          <p:nvPr/>
        </p:nvCxnSpPr>
        <p:spPr>
          <a:xfrm flipH="1" flipV="1">
            <a:off x="1107557" y="5977571"/>
            <a:ext cx="3120059" cy="18093"/>
          </a:xfrm>
          <a:prstGeom prst="line">
            <a:avLst/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0FD5CC1-455D-4EF2-5BCE-CE4EF6DE7F28}"/>
              </a:ext>
            </a:extLst>
          </p:cNvPr>
          <p:cNvCxnSpPr>
            <a:cxnSpLocks/>
            <a:endCxn id="33" idx="6"/>
          </p:cNvCxnSpPr>
          <p:nvPr/>
        </p:nvCxnSpPr>
        <p:spPr>
          <a:xfrm flipH="1" flipV="1">
            <a:off x="1107557" y="5020889"/>
            <a:ext cx="3120059" cy="16004"/>
          </a:xfrm>
          <a:prstGeom prst="line">
            <a:avLst/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B1DD9A1-C8D0-437D-46CE-CC3C8ACDE9D0}"/>
              </a:ext>
            </a:extLst>
          </p:cNvPr>
          <p:cNvCxnSpPr>
            <a:cxnSpLocks/>
            <a:endCxn id="32" idx="6"/>
          </p:cNvCxnSpPr>
          <p:nvPr/>
        </p:nvCxnSpPr>
        <p:spPr>
          <a:xfrm flipH="1" flipV="1">
            <a:off x="1111437" y="4048781"/>
            <a:ext cx="3120208" cy="7953"/>
          </a:xfrm>
          <a:prstGeom prst="line">
            <a:avLst/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2E456DD-5D0D-A49C-90E6-8BB06F9C9FCF}"/>
              </a:ext>
            </a:extLst>
          </p:cNvPr>
          <p:cNvCxnSpPr>
            <a:cxnSpLocks/>
            <a:endCxn id="19" idx="6"/>
          </p:cNvCxnSpPr>
          <p:nvPr/>
        </p:nvCxnSpPr>
        <p:spPr>
          <a:xfrm flipH="1">
            <a:off x="1111586" y="3071327"/>
            <a:ext cx="3120059" cy="25924"/>
          </a:xfrm>
          <a:prstGeom prst="line">
            <a:avLst/>
          </a:prstGeom>
          <a:ln w="762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41B5356A-1D76-0958-E078-5051D8E47903}"/>
              </a:ext>
            </a:extLst>
          </p:cNvPr>
          <p:cNvGrpSpPr/>
          <p:nvPr/>
        </p:nvGrpSpPr>
        <p:grpSpPr>
          <a:xfrm>
            <a:off x="215084" y="1372567"/>
            <a:ext cx="2795830" cy="1162292"/>
            <a:chOff x="215084" y="1372567"/>
            <a:chExt cx="2795830" cy="1162292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09705F5-176C-D2B9-C0BE-59B70B2E9008}"/>
                </a:ext>
              </a:extLst>
            </p:cNvPr>
            <p:cNvSpPr/>
            <p:nvPr/>
          </p:nvSpPr>
          <p:spPr bwMode="auto">
            <a:xfrm>
              <a:off x="377510" y="1376287"/>
              <a:ext cx="2633404" cy="11585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12" tIns="45706" rIns="91412" bIns="45706" numCol="1" rtlCol="0" anchor="ctr" anchorCtr="0" compatLnSpc="1">
              <a:prstTxWarp prst="textNoShape">
                <a:avLst/>
              </a:prstTxWarp>
            </a:bodyPr>
            <a:lstStyle/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システムインテグレーション部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部長　新原昭彦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 xml:space="preserve">幹部 </a:t>
              </a:r>
              <a:r>
                <a:rPr kumimoji="1" lang="en-US" altLang="ja-JP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4</a:t>
              </a:r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名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 xml:space="preserve">メンバー </a:t>
              </a:r>
              <a:r>
                <a:rPr kumimoji="1" lang="en-US" altLang="ja-JP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49</a:t>
              </a:r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名（</a:t>
              </a:r>
              <a:r>
                <a:rPr kumimoji="1" lang="en-US" altLang="ja-JP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Co</a:t>
              </a:r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 xml:space="preserve">ネット </a:t>
              </a:r>
              <a:r>
                <a:rPr kumimoji="1" lang="en-US" altLang="ja-JP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2</a:t>
              </a:r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名含む</a:t>
              </a:r>
              <a:r>
                <a:rPr kumimoji="1" lang="ja-JP" altLang="en-US" sz="1200" b="1" dirty="0">
                  <a:solidFill>
                    <a:schemeClr val="accent6"/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）</a:t>
              </a: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E52296F1-E61F-1790-CE2A-3726D2D248D9}"/>
                </a:ext>
              </a:extLst>
            </p:cNvPr>
            <p:cNvSpPr/>
            <p:nvPr/>
          </p:nvSpPr>
          <p:spPr bwMode="auto">
            <a:xfrm>
              <a:off x="215084" y="1372567"/>
              <a:ext cx="177446" cy="1162292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12" tIns="45706" rIns="91412" bIns="45706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126"/>
              <a:endParaRPr kumimoji="1" lang="ja-JP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</p:grpSp>
      <p:sp>
        <p:nvSpPr>
          <p:cNvPr id="19" name="フローチャート: 結合子 18">
            <a:extLst>
              <a:ext uri="{FF2B5EF4-FFF2-40B4-BE49-F238E27FC236}">
                <a16:creationId xmlns:a16="http://schemas.microsoft.com/office/drawing/2014/main" id="{512E7FC7-73B9-DBC0-0270-DFA6CEB06000}"/>
              </a:ext>
            </a:extLst>
          </p:cNvPr>
          <p:cNvSpPr/>
          <p:nvPr/>
        </p:nvSpPr>
        <p:spPr bwMode="gray">
          <a:xfrm>
            <a:off x="831613" y="2960948"/>
            <a:ext cx="279973" cy="272606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635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600" b="0" i="0" u="none" strike="noStrike" cap="none" normalizeH="0" baseline="0" dirty="0">
              <a:ln>
                <a:noFill/>
              </a:ln>
              <a:effectLst/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5B965A89-EEBA-58CB-AE13-70EFF52E9336}"/>
              </a:ext>
            </a:extLst>
          </p:cNvPr>
          <p:cNvGrpSpPr/>
          <p:nvPr/>
        </p:nvGrpSpPr>
        <p:grpSpPr>
          <a:xfrm>
            <a:off x="1547814" y="2691533"/>
            <a:ext cx="2407622" cy="820780"/>
            <a:chOff x="215084" y="1372567"/>
            <a:chExt cx="2795830" cy="1162292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ACDC59EB-29F0-CFFC-FD49-DC6627CB24BE}"/>
                </a:ext>
              </a:extLst>
            </p:cNvPr>
            <p:cNvSpPr/>
            <p:nvPr/>
          </p:nvSpPr>
          <p:spPr bwMode="auto">
            <a:xfrm>
              <a:off x="377510" y="1376287"/>
              <a:ext cx="2633404" cy="11585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12" tIns="45706" rIns="91412" bIns="45706" numCol="1" rtlCol="0" anchor="ctr" anchorCtr="0" compatLnSpc="1">
              <a:prstTxWarp prst="textNoShape">
                <a:avLst/>
              </a:prstTxWarp>
            </a:bodyPr>
            <a:lstStyle/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第一システムグループ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課長　中村二郎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 xml:space="preserve">メンバー </a:t>
              </a:r>
              <a:r>
                <a:rPr kumimoji="1" lang="en-US" altLang="ja-JP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24</a:t>
              </a:r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名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98E706DD-F307-BC88-258E-3DF5CB5B4650}"/>
                </a:ext>
              </a:extLst>
            </p:cNvPr>
            <p:cNvSpPr/>
            <p:nvPr/>
          </p:nvSpPr>
          <p:spPr bwMode="auto">
            <a:xfrm>
              <a:off x="215084" y="1372567"/>
              <a:ext cx="177446" cy="1162292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12" tIns="45706" rIns="91412" bIns="45706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126"/>
              <a:endParaRPr kumimoji="1" lang="ja-JP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0CC3BC5F-B77E-8CCE-C8E8-C5CEE0C3DFEA}"/>
              </a:ext>
            </a:extLst>
          </p:cNvPr>
          <p:cNvGrpSpPr/>
          <p:nvPr/>
        </p:nvGrpSpPr>
        <p:grpSpPr>
          <a:xfrm>
            <a:off x="1547813" y="3651722"/>
            <a:ext cx="2407624" cy="820780"/>
            <a:chOff x="215084" y="1372567"/>
            <a:chExt cx="2795830" cy="1162292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BE55E1A0-90E9-8D0E-5678-C539C09E1609}"/>
                </a:ext>
              </a:extLst>
            </p:cNvPr>
            <p:cNvSpPr/>
            <p:nvPr/>
          </p:nvSpPr>
          <p:spPr bwMode="auto">
            <a:xfrm>
              <a:off x="377510" y="1376287"/>
              <a:ext cx="2633404" cy="11585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12" tIns="45706" rIns="91412" bIns="45706" numCol="1" rtlCol="0" anchor="ctr" anchorCtr="0" compatLnSpc="1">
              <a:prstTxWarp prst="textNoShape">
                <a:avLst/>
              </a:prstTxWarp>
            </a:bodyPr>
            <a:lstStyle/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第二システムグループ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課長　亀井辰典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 xml:space="preserve">メンバー </a:t>
              </a:r>
              <a:r>
                <a:rPr kumimoji="1" lang="en-US" altLang="ja-JP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12</a:t>
              </a:r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名</a:t>
              </a: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16B1B86E-5570-4531-52FF-FD9005A6570C}"/>
                </a:ext>
              </a:extLst>
            </p:cNvPr>
            <p:cNvSpPr/>
            <p:nvPr/>
          </p:nvSpPr>
          <p:spPr bwMode="auto">
            <a:xfrm>
              <a:off x="215084" y="1372567"/>
              <a:ext cx="177446" cy="1162292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12" tIns="45706" rIns="91412" bIns="45706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126"/>
              <a:endParaRPr kumimoji="1" lang="ja-JP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DFF049E-ADC7-C508-A3B2-D138CFBAE712}"/>
              </a:ext>
            </a:extLst>
          </p:cNvPr>
          <p:cNvGrpSpPr/>
          <p:nvPr/>
        </p:nvGrpSpPr>
        <p:grpSpPr>
          <a:xfrm>
            <a:off x="1547814" y="4618498"/>
            <a:ext cx="2407626" cy="820780"/>
            <a:chOff x="215084" y="1372567"/>
            <a:chExt cx="2795830" cy="1162292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EAD3B985-673A-9FAB-75F8-08712FF38AD8}"/>
                </a:ext>
              </a:extLst>
            </p:cNvPr>
            <p:cNvSpPr/>
            <p:nvPr/>
          </p:nvSpPr>
          <p:spPr bwMode="auto">
            <a:xfrm>
              <a:off x="377510" y="1376287"/>
              <a:ext cx="2633404" cy="11585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12" tIns="45706" rIns="91412" bIns="45706" numCol="1" rtlCol="0" anchor="ctr" anchorCtr="0" compatLnSpc="1">
              <a:prstTxWarp prst="textNoShape">
                <a:avLst/>
              </a:prstTxWarp>
            </a:bodyPr>
            <a:lstStyle/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アプリ開発グループ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兼　新原昭彦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 xml:space="preserve">メンバー </a:t>
              </a:r>
              <a:r>
                <a:rPr kumimoji="1" lang="en-US" altLang="ja-JP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7</a:t>
              </a:r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名</a:t>
              </a: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AB310040-E6F8-504E-834B-7079839BAEDF}"/>
                </a:ext>
              </a:extLst>
            </p:cNvPr>
            <p:cNvSpPr/>
            <p:nvPr/>
          </p:nvSpPr>
          <p:spPr bwMode="auto">
            <a:xfrm>
              <a:off x="215084" y="1372567"/>
              <a:ext cx="177446" cy="1162292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12" tIns="45706" rIns="91412" bIns="45706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126"/>
              <a:endParaRPr kumimoji="1" lang="ja-JP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C69986A2-AB58-C841-00A5-8BC641C19966}"/>
              </a:ext>
            </a:extLst>
          </p:cNvPr>
          <p:cNvGrpSpPr/>
          <p:nvPr/>
        </p:nvGrpSpPr>
        <p:grpSpPr>
          <a:xfrm>
            <a:off x="1547814" y="5585274"/>
            <a:ext cx="2407622" cy="820780"/>
            <a:chOff x="215084" y="1372567"/>
            <a:chExt cx="2795830" cy="1162292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63ACA2F0-B523-0F05-14A0-76F21B2C9BD9}"/>
                </a:ext>
              </a:extLst>
            </p:cNvPr>
            <p:cNvSpPr/>
            <p:nvPr/>
          </p:nvSpPr>
          <p:spPr bwMode="auto">
            <a:xfrm>
              <a:off x="377510" y="1376287"/>
              <a:ext cx="2633404" cy="11585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12" tIns="45706" rIns="91412" bIns="45706" numCol="1" rtlCol="0" anchor="ctr" anchorCtr="0" compatLnSpc="1">
              <a:prstTxWarp prst="textNoShape">
                <a:avLst/>
              </a:prstTxWarp>
            </a:bodyPr>
            <a:lstStyle/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システム基盤開発グループ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4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課長　荒木大輔</a:t>
              </a:r>
              <a:endParaRPr kumimoji="1" lang="en-US" altLang="ja-JP" sz="1400" b="1" dirty="0">
                <a:solidFill>
                  <a:schemeClr val="accent6">
                    <a:lumMod val="7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  <a:p>
              <a:pPr defTabSz="914126"/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メンバー</a:t>
              </a:r>
              <a:r>
                <a:rPr kumimoji="1" lang="en-US" altLang="ja-JP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6</a:t>
              </a:r>
              <a:r>
                <a:rPr kumimoji="1" lang="ja-JP" altLang="en-US" sz="1200" b="1" dirty="0">
                  <a:solidFill>
                    <a:schemeClr val="accent6">
                      <a:lumMod val="75000"/>
                    </a:schemeClr>
                  </a:solidFill>
                  <a:latin typeface="HGS明朝E" panose="02020900000000000000" pitchFamily="18" charset="-128"/>
                  <a:ea typeface="HGS明朝E" panose="02020900000000000000" pitchFamily="18" charset="-128"/>
                </a:rPr>
                <a:t>名</a:t>
              </a: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2564F007-20F8-1EDF-4AF6-53996087BB8E}"/>
                </a:ext>
              </a:extLst>
            </p:cNvPr>
            <p:cNvSpPr/>
            <p:nvPr/>
          </p:nvSpPr>
          <p:spPr bwMode="auto">
            <a:xfrm>
              <a:off x="215084" y="1372567"/>
              <a:ext cx="177446" cy="1162292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12" tIns="45706" rIns="91412" bIns="45706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126"/>
              <a:endParaRPr kumimoji="1" lang="ja-JP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HGS明朝E" panose="02020900000000000000" pitchFamily="18" charset="-128"/>
                <a:ea typeface="HGS明朝E" panose="02020900000000000000" pitchFamily="18" charset="-128"/>
              </a:endParaRPr>
            </a:p>
          </p:txBody>
        </p:sp>
      </p:grpSp>
      <p:sp>
        <p:nvSpPr>
          <p:cNvPr id="32" name="フローチャート: 結合子 31">
            <a:extLst>
              <a:ext uri="{FF2B5EF4-FFF2-40B4-BE49-F238E27FC236}">
                <a16:creationId xmlns:a16="http://schemas.microsoft.com/office/drawing/2014/main" id="{97955CE2-F984-D54B-DEAA-12DCCD2A8C18}"/>
              </a:ext>
            </a:extLst>
          </p:cNvPr>
          <p:cNvSpPr/>
          <p:nvPr/>
        </p:nvSpPr>
        <p:spPr bwMode="gray">
          <a:xfrm>
            <a:off x="831464" y="3912478"/>
            <a:ext cx="279973" cy="272606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635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600" b="0" i="0" u="none" strike="noStrike" cap="none" normalizeH="0" baseline="0" dirty="0">
              <a:ln>
                <a:noFill/>
              </a:ln>
              <a:effectLst/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3" name="フローチャート: 結合子 32">
            <a:extLst>
              <a:ext uri="{FF2B5EF4-FFF2-40B4-BE49-F238E27FC236}">
                <a16:creationId xmlns:a16="http://schemas.microsoft.com/office/drawing/2014/main" id="{0901EB29-36D4-7381-A89D-921BC205B2C4}"/>
              </a:ext>
            </a:extLst>
          </p:cNvPr>
          <p:cNvSpPr/>
          <p:nvPr/>
        </p:nvSpPr>
        <p:spPr bwMode="gray">
          <a:xfrm>
            <a:off x="827584" y="4884586"/>
            <a:ext cx="279973" cy="272606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635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600" b="0" i="0" u="none" strike="noStrike" cap="none" normalizeH="0" baseline="0" dirty="0">
              <a:ln>
                <a:noFill/>
              </a:ln>
              <a:effectLst/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4" name="フローチャート: 結合子 33">
            <a:extLst>
              <a:ext uri="{FF2B5EF4-FFF2-40B4-BE49-F238E27FC236}">
                <a16:creationId xmlns:a16="http://schemas.microsoft.com/office/drawing/2014/main" id="{4A717C1F-E504-5148-B0EB-6CA8389D611F}"/>
              </a:ext>
            </a:extLst>
          </p:cNvPr>
          <p:cNvSpPr/>
          <p:nvPr/>
        </p:nvSpPr>
        <p:spPr bwMode="gray">
          <a:xfrm>
            <a:off x="827584" y="5841268"/>
            <a:ext cx="279973" cy="272606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 w="635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600" b="0" i="0" u="none" strike="noStrike" cap="none" normalizeH="0" baseline="0" dirty="0">
              <a:ln>
                <a:noFill/>
              </a:ln>
              <a:effectLst/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B273929-78D9-1877-30D7-2039FCA62722}"/>
              </a:ext>
            </a:extLst>
          </p:cNvPr>
          <p:cNvSpPr txBox="1"/>
          <p:nvPr/>
        </p:nvSpPr>
        <p:spPr>
          <a:xfrm>
            <a:off x="4053557" y="2772217"/>
            <a:ext cx="4406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サポートデスク（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16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名）、お客様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WEB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（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3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名）</a:t>
            </a:r>
            <a:endParaRPr kumimoji="1" lang="en-US" altLang="ja-JP" sz="16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開発ビジネス（5名）、Glovia（1名）、新人（山口、阪本）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C9FBBAE-FC90-E456-9E62-B6811867F976}"/>
              </a:ext>
            </a:extLst>
          </p:cNvPr>
          <p:cNvSpPr txBox="1"/>
          <p:nvPr/>
        </p:nvSpPr>
        <p:spPr>
          <a:xfrm>
            <a:off x="4053557" y="3780329"/>
            <a:ext cx="4406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セキュアゲートウェイ（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11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名）</a:t>
            </a:r>
            <a:endParaRPr kumimoji="1" lang="en-US" altLang="ja-JP" sz="16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  <a:p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セキュアゲートウェイ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M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化学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(2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名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)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7B0D30B-6611-AA37-39B9-C95F1311F71C}"/>
              </a:ext>
            </a:extLst>
          </p:cNvPr>
          <p:cNvSpPr txBox="1"/>
          <p:nvPr/>
        </p:nvSpPr>
        <p:spPr>
          <a:xfrm>
            <a:off x="4053557" y="4869160"/>
            <a:ext cx="4404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ニ〇ティ運用保守（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6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名）、新人（中原）</a:t>
            </a:r>
            <a:endParaRPr kumimoji="1" lang="en-US" altLang="ja-JP" sz="16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9368AA8-A602-4087-C046-28FDBF90206D}"/>
              </a:ext>
            </a:extLst>
          </p:cNvPr>
          <p:cNvSpPr txBox="1"/>
          <p:nvPr/>
        </p:nvSpPr>
        <p:spPr>
          <a:xfrm>
            <a:off x="4053557" y="5697252"/>
            <a:ext cx="4334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ハロー（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5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名）、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CCW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（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1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名）、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e-FOCUS(1</a:t>
            </a:r>
            <a:r>
              <a:rPr kumimoji="1"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名</a:t>
            </a:r>
            <a:r>
              <a:rPr kumimoji="1" lang="en-US" altLang="ja-JP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)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1C6107D-BE04-171C-C76D-333DD0476B29}"/>
              </a:ext>
            </a:extLst>
          </p:cNvPr>
          <p:cNvSpPr txBox="1"/>
          <p:nvPr/>
        </p:nvSpPr>
        <p:spPr>
          <a:xfrm>
            <a:off x="5946583" y="1400749"/>
            <a:ext cx="2895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400" b="1" dirty="0">
                <a:latin typeface="HG明朝E" panose="02020909000000000000" pitchFamily="17" charset="-128"/>
                <a:ea typeface="HG明朝E" panose="02020909000000000000" pitchFamily="17" charset="-128"/>
              </a:rPr>
              <a:t>・産休復職（藤本）</a:t>
            </a:r>
            <a:endParaRPr kumimoji="1" lang="en-US" altLang="ja-JP" sz="1400" b="1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r>
              <a:rPr kumimoji="1" lang="ja-JP" altLang="en-US" sz="1400" b="1" dirty="0">
                <a:latin typeface="HG明朝E" panose="02020909000000000000" pitchFamily="17" charset="-128"/>
                <a:ea typeface="HG明朝E" panose="02020909000000000000" pitchFamily="17" charset="-128"/>
              </a:rPr>
              <a:t>・新人定着（山口、阪本、中原）</a:t>
            </a:r>
            <a:endParaRPr kumimoji="1" lang="en-US" altLang="ja-JP" sz="1400" b="1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r>
              <a:rPr kumimoji="1" lang="ja-JP" altLang="en-US" sz="1400" b="1" dirty="0">
                <a:latin typeface="HG明朝E" panose="02020909000000000000" pitchFamily="17" charset="-128"/>
                <a:ea typeface="HG明朝E" panose="02020909000000000000" pitchFamily="17" charset="-128"/>
              </a:rPr>
              <a:t>・長期療養復職（村上寛）</a:t>
            </a:r>
            <a:endParaRPr kumimoji="1" lang="en-US" altLang="ja-JP" sz="1400" b="1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r>
              <a:rPr kumimoji="1" lang="ja-JP" altLang="en-US" sz="1400" b="1" dirty="0">
                <a:latin typeface="HG明朝E" panose="02020909000000000000" pitchFamily="17" charset="-128"/>
                <a:ea typeface="HG明朝E" panose="02020909000000000000" pitchFamily="17" charset="-128"/>
              </a:rPr>
              <a:t>・スキルアップ要員増強中</a:t>
            </a:r>
            <a:endParaRPr kumimoji="1" lang="en-US" altLang="ja-JP" sz="1400" b="1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endParaRPr kumimoji="1" lang="en-US" altLang="ja-JP" sz="1400" b="1" dirty="0">
              <a:latin typeface="HG明朝E" panose="02020909000000000000" pitchFamily="17" charset="-128"/>
              <a:ea typeface="HG明朝E" panose="02020909000000000000" pitchFamily="17" charset="-128"/>
            </a:endParaRPr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9C7070EA-89ED-FFB7-4C5D-D7EBDDAE0901}"/>
              </a:ext>
            </a:extLst>
          </p:cNvPr>
          <p:cNvCxnSpPr>
            <a:cxnSpLocks/>
          </p:cNvCxnSpPr>
          <p:nvPr/>
        </p:nvCxnSpPr>
        <p:spPr>
          <a:xfrm>
            <a:off x="971600" y="2544645"/>
            <a:ext cx="0" cy="3994267"/>
          </a:xfrm>
          <a:prstGeom prst="line">
            <a:avLst/>
          </a:prstGeom>
          <a:ln w="1270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27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D78E-55B0-56CD-FAEE-B591334F2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8F4F5C-DCDC-4DB8-5ADF-14D7EE58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２０２５年度活動実績（1/4）</a:t>
            </a:r>
            <a:endParaRPr kumimoji="1" lang="ja-JP" altLang="en-US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F6510D-29F8-A5BD-2B2E-9AECEED1D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sz="18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【外部要因】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・生成AI・クラウドシフト加速（国内IT投資 前年比+8%）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・IT人材不足深刻化（経産省試算 2030年不足：約79万人超）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・サイバーセキュリティ対策需要の増加・法令強化</a:t>
            </a:r>
          </a:p>
          <a:p>
            <a:r>
              <a:rPr lang="ja-JP" altLang="en-US" sz="18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【内部要因】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・FJサポートデスク縮小（9月・12月 計4名契約終了）→余剰2名を既存PJへ配属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・長期療養中（村上寛）→ 下期より職場復帰・体制強化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・新人3名（山口・阪本・中原）業務参画完了・戦力化</a:t>
            </a:r>
          </a:p>
          <a:p>
            <a:pPr marL="0" indent="0">
              <a:buNone/>
            </a:pPr>
            <a:r>
              <a:rPr lang="en-US" altLang="ja-JP" sz="18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2025年度活動計画は以下2項目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①売上向上のための考動（継続）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②クラウド系・生成AI資格取得と業務効率化の推進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B4B3241-0293-18BC-815B-216D73C2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C8C177F-A41B-9C3F-448B-748F5E99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669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BE29-6632-46C2-EA59-159449C42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E9002D-ABB9-3622-3012-5FD871171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２０２５年度活動実績（2/4）</a:t>
            </a:r>
            <a:endParaRPr kumimoji="1" lang="ja-JP" altLang="en-US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CAB2DF-C421-D06B-1377-ADF30FF77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39748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8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2025年度活動計画実績（計画比）</a:t>
            </a:r>
          </a:p>
          <a:p>
            <a:r>
              <a:rPr lang="ja-JP" altLang="en-US" sz="18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①売上向上のための考動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月一幹部会での予実確認・施策検討　→ 実施率100%（12回/12回） ✓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生成AI（Copilot等）サポート業務で本格活用開始 ✓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グループ間情報共有 → 一部グループのみ実施 △</a:t>
            </a:r>
          </a:p>
          <a:p>
            <a:r>
              <a:rPr lang="ja-JP" altLang="en-US" sz="18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②クラウド・AI系資格取得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個人面談でAWS/Azure資格取得を目標設定 ✓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2025年度資格取得実績：計2名取得（目標3名・達成率67%）</a:t>
            </a:r>
          </a:p>
          <a:p>
            <a:pPr lvl="1"/>
            <a:r>
              <a:rPr lang="ja-JP" altLang="en-US" sz="15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　Azure AZ-104（阪本）／AWS CLF-C02（中原）</a:t>
            </a:r>
          </a:p>
          <a:p>
            <a:pPr lvl="1"/>
            <a:r>
              <a:rPr lang="ja-JP" altLang="en-US" sz="15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→ 達成率不足は2026年度の重点課題へ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A186973-33CF-BE4B-C8D8-271A05319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F668EC3-06A9-960F-710F-9D61D5B1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1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DBBDE-CA0E-FF9D-3134-4EC8EE05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0D171E-6234-E224-AEF1-82A7742BB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２０２５年度活動実績（3/4）</a:t>
            </a:r>
            <a:endParaRPr kumimoji="1" lang="ja-JP" altLang="en-US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2EFBB7-7E40-2AD8-B183-5A186221A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76" y="1391481"/>
            <a:ext cx="8521974" cy="4700000"/>
          </a:xfrm>
        </p:spPr>
        <p:txBody>
          <a:bodyPr/>
          <a:lstStyle/>
          <a:p>
            <a:pPr lvl="1"/>
            <a:r>
              <a:rPr lang="ja-JP" altLang="en-US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第一システムグループ</a:t>
            </a:r>
            <a:endParaRPr lang="en-US" altLang="ja-JP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2"/>
            <a:r>
              <a:rPr lang="ja-JP" altLang="en-US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お客様WEB・・・単金UP継続（年間+1,150円/人）</a:t>
            </a:r>
            <a:endParaRPr lang="en-US" altLang="ja-JP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marL="584200" lvl="2" indent="0">
              <a:buNone/>
            </a:pPr>
            <a:r>
              <a:rPr lang="ja-JP" altLang="en-US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　→3名体制で安定稼働</a:t>
            </a:r>
            <a:endParaRPr lang="en-US" altLang="ja-JP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2"/>
            <a:r>
              <a:rPr lang="en-US" altLang="ja-JP" sz="2400" dirty="0" err="1">
                <a:latin typeface="HG明朝E" panose="02020909000000000000" pitchFamily="17" charset="-128"/>
                <a:ea typeface="HG明朝E" panose="02020909000000000000" pitchFamily="17" charset="-128"/>
              </a:rPr>
              <a:t>FJサポート縮小による余剰人員2名を既存PJへ配属完了</a:t>
            </a:r>
          </a:p>
          <a:p>
            <a:pPr lvl="2"/>
            <a:r>
              <a:rPr lang="ja-JP" altLang="en-US" sz="2400" dirty="0">
                <a:solidFill>
                  <a:schemeClr val="tx1"/>
                </a:solidFill>
                <a:latin typeface="HG明朝E" panose="02020909000000000000" pitchFamily="17" charset="-128"/>
                <a:ea typeface="HG明朝E" panose="02020909000000000000" pitchFamily="17" charset="-128"/>
              </a:rPr>
              <a:t>CAサポート追加要員が定着・安定稼働</a:t>
            </a:r>
            <a:endParaRPr lang="en-US" altLang="ja-JP" sz="2400" dirty="0">
              <a:solidFill>
                <a:schemeClr val="tx1"/>
              </a:solidFill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2"/>
            <a:r>
              <a:rPr lang="ja-JP" altLang="en-US" sz="2400" dirty="0">
                <a:solidFill>
                  <a:schemeClr val="tx1"/>
                </a:solidFill>
                <a:latin typeface="HG明朝E" panose="02020909000000000000" pitchFamily="17" charset="-128"/>
                <a:ea typeface="HG明朝E" panose="02020909000000000000" pitchFamily="17" charset="-128"/>
              </a:rPr>
              <a:t>グループ間での要員融通の実績確立</a:t>
            </a:r>
            <a:endParaRPr lang="en-US" altLang="ja-JP" sz="2400" dirty="0">
              <a:solidFill>
                <a:schemeClr val="tx1"/>
              </a:solidFill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marL="584200" lvl="2" indent="0">
              <a:buNone/>
            </a:pPr>
            <a:endParaRPr lang="en-US" altLang="ja-JP" sz="18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1"/>
            <a:r>
              <a:rPr lang="ja-JP" altLang="en-US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第二システムグループ</a:t>
            </a:r>
            <a:endParaRPr lang="en-US" altLang="ja-JP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2"/>
            <a:r>
              <a:rPr lang="ja-JP" altLang="en-US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上期に比べ受注額が改善。</a:t>
            </a:r>
            <a:endParaRPr lang="en-US" altLang="ja-JP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marL="584200" lvl="2" indent="0">
              <a:buNone/>
            </a:pPr>
            <a:r>
              <a:rPr lang="ja-JP" altLang="en-US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→スポット作業（ネットワーク設定変更、HSC更新等）を受注</a:t>
            </a:r>
            <a:endParaRPr lang="en-US" altLang="ja-JP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marL="584200" lvl="2" indent="0">
              <a:buNone/>
            </a:pPr>
            <a:r>
              <a:rPr lang="ja-JP" altLang="en-US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　要員数維持（計13名）のまま売上微増を達成</a:t>
            </a:r>
            <a:endParaRPr lang="en-US" altLang="ja-JP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marL="0" indent="0">
              <a:buNone/>
            </a:pPr>
            <a:endParaRPr kumimoji="1" lang="ja-JP" altLang="en-US" sz="28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DB85744-5541-02EB-05AA-521D3993C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2C40B31-7AE1-DD33-9306-FD09DAA23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07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87791-D266-A8EE-390E-4BF5A272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B24175-D3F6-0F8B-4A1A-DE3519421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/>
          </a:bodyPr>
          <a:lstStyle/>
          <a:p>
            <a:r>
              <a:rPr lang="ja-JP" altLang="en-US" sz="32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２０２５年度活動実績（4/4）</a:t>
            </a:r>
            <a:endParaRPr kumimoji="1" lang="ja-JP" altLang="en-US" b="1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30DD53-A932-E68C-5307-1758BA2E1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2030"/>
            <a:ext cx="8229600" cy="4525963"/>
          </a:xfrm>
        </p:spPr>
        <p:txBody>
          <a:bodyPr/>
          <a:lstStyle/>
          <a:p>
            <a:pPr lvl="1"/>
            <a:r>
              <a:rPr lang="ja-JP" altLang="en-US" sz="2800" dirty="0">
                <a:latin typeface="HG明朝E" panose="02020909000000000000" pitchFamily="17" charset="-128"/>
                <a:ea typeface="HG明朝E" panose="02020909000000000000" pitchFamily="17" charset="-128"/>
              </a:rPr>
              <a:t>アプリケーション開発グループ</a:t>
            </a:r>
            <a:endParaRPr lang="en-US" altLang="ja-JP" sz="28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2"/>
            <a:r>
              <a:rPr lang="ja-JP" altLang="en-US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AWS移行作業の完了と追加要員による作業加速</a:t>
            </a:r>
            <a:endParaRPr lang="en-US" altLang="ja-JP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marL="584200" lvl="2" indent="0">
              <a:buNone/>
            </a:pPr>
            <a:r>
              <a:rPr lang="ja-JP" altLang="en-US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　→長期療養メンバー（村上寛）が下期より復職、体制強化</a:t>
            </a:r>
            <a:endParaRPr lang="en-US" altLang="ja-JP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marL="584200" lvl="2" indent="0">
              <a:buNone/>
            </a:pPr>
            <a:r>
              <a:rPr lang="ja-JP" altLang="en-US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　　主要システムのAWS移行を年度内に完了。</a:t>
            </a:r>
            <a:endParaRPr lang="en-US" altLang="ja-JP" sz="20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2"/>
            <a:r>
              <a:rPr lang="ja-JP" altLang="en-US" sz="2400" dirty="0">
                <a:solidFill>
                  <a:schemeClr val="tx1"/>
                </a:solidFill>
                <a:latin typeface="HG明朝E" panose="02020909000000000000" pitchFamily="17" charset="-128"/>
                <a:ea typeface="HG明朝E" panose="02020909000000000000" pitchFamily="17" charset="-128"/>
              </a:rPr>
              <a:t>Docker移行作業の推進（第一グループと連携）</a:t>
            </a:r>
            <a:endParaRPr lang="en-US" altLang="ja-JP" sz="2400" dirty="0">
              <a:solidFill>
                <a:schemeClr val="tx1"/>
              </a:solidFill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2"/>
            <a:r>
              <a:rPr lang="ja-JP" altLang="en-US" sz="2400" dirty="0">
                <a:solidFill>
                  <a:schemeClr val="tx1"/>
                </a:solidFill>
                <a:latin typeface="HG明朝E" panose="02020909000000000000" pitchFamily="17" charset="-128"/>
                <a:ea typeface="HG明朝E" panose="02020909000000000000" pitchFamily="17" charset="-128"/>
              </a:rPr>
              <a:t>新人（中原）が業務に安定参画</a:t>
            </a:r>
            <a:endParaRPr lang="en-US" altLang="ja-JP" sz="2400" dirty="0">
              <a:solidFill>
                <a:schemeClr val="tx1"/>
              </a:solidFill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marL="584200" lvl="2" indent="0">
              <a:buNone/>
            </a:pPr>
            <a:endParaRPr lang="en-US" altLang="ja-JP" sz="24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1"/>
            <a:r>
              <a:rPr lang="ja-JP" altLang="en-US" sz="2800" dirty="0">
                <a:latin typeface="HG明朝E" panose="02020909000000000000" pitchFamily="17" charset="-128"/>
                <a:ea typeface="HG明朝E" panose="02020909000000000000" pitchFamily="17" charset="-128"/>
              </a:rPr>
              <a:t>システム基盤開発グループ</a:t>
            </a:r>
            <a:endParaRPr lang="en-US" altLang="ja-JP" sz="2800" dirty="0">
              <a:latin typeface="HG明朝E" panose="02020909000000000000" pitchFamily="17" charset="-128"/>
              <a:ea typeface="HG明朝E" panose="02020909000000000000" pitchFamily="17" charset="-128"/>
            </a:endParaRPr>
          </a:p>
          <a:p>
            <a:pPr lvl="2"/>
            <a:r>
              <a:rPr lang="en-US" altLang="ja-JP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設計開発作業が安定化し、時間外が大幅に減少。</a:t>
            </a:r>
          </a:p>
          <a:p>
            <a:pPr lvl="2"/>
            <a:r>
              <a:rPr lang="en-US" altLang="ja-JP" sz="2400" dirty="0">
                <a:latin typeface="HG明朝E" panose="02020909000000000000" pitchFamily="17" charset="-128"/>
                <a:ea typeface="HG明朝E" panose="02020909000000000000" pitchFamily="17" charset="-128"/>
              </a:rPr>
              <a:t>保守チーム・TAM・派遣ともに安定稼働継続。</a:t>
            </a:r>
          </a:p>
          <a:p>
            <a:pPr marL="0" indent="0">
              <a:buNone/>
            </a:pPr>
            <a:endParaRPr kumimoji="1" lang="ja-JP" altLang="en-US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CCC2B0-9EF4-A3EF-2167-2FDA46919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797A6F-F389-B49D-C63E-0D4EFBFB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25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BC94D-7BBB-5CA9-CB3B-4A5568361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DCFA89-7A11-7CCD-110F-5E4C2F62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Autofit/>
          </a:bodyPr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２０２６年度活動計画題／課題解決（1/2）</a:t>
            </a:r>
            <a:endParaRPr kumimoji="1" lang="ja-JP" altLang="en-US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020D1C-8F83-7F5B-1DF1-B7A9611AB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1420"/>
            <a:ext cx="836295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8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2026年度活動計画　＜環境分析に基づく方針＞</a:t>
            </a:r>
          </a:p>
          <a:p>
            <a:r>
              <a:rPr lang="ja-JP" altLang="en-US" sz="16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強み：豊富な運用保守実績・安定した顧客基盤</a:t>
            </a:r>
          </a:p>
          <a:p>
            <a:r>
              <a:rPr lang="ja-JP" altLang="en-US" sz="16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弱み：新規開発案件不足・技術者の世代交代遅れ</a:t>
            </a:r>
          </a:p>
          <a:p>
            <a:r>
              <a:rPr lang="ja-JP" altLang="en-US" sz="16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機会：生成AI・クラウド移行需要の増加</a:t>
            </a:r>
          </a:p>
          <a:p>
            <a:r>
              <a:rPr lang="ja-JP" altLang="en-US" sz="16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脅威：IT人材獲得競争激化・単価圧迫リスク</a:t>
            </a:r>
          </a:p>
          <a:p>
            <a:r>
              <a:rPr lang="ja-JP" altLang="en-US" sz="18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上期（4月-9月）重点施策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・新規取引先開拓：AI活用提案営業（担当：各GL　期限：9月）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・クラウド上位資格取得（目標：5名　担当：新原）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・月一幹部会の継続実施・売上施策PDCA（担当：新原）</a:t>
            </a:r>
          </a:p>
          <a:p>
            <a:r>
              <a:rPr lang="ja-JP" altLang="en-US" sz="1800" b="1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下期（10月-3月）重点施策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・AI活用PoC実施（社内業務効率化　担当：各GL　期限：3月）</a:t>
            </a:r>
          </a:p>
          <a:p>
            <a:pPr lvl="1"/>
            <a:r>
              <a:rPr lang="ja-JP" altLang="en-US" sz="1600" dirty="0">
                <a:solidFill>
                  <a:schemeClr val="tx1"/>
                </a:solidFill>
                <a:latin typeface="HGS明朝E" panose="02020900000000000000" pitchFamily="18" charset="-128"/>
                <a:ea typeface="HGS明朝E" panose="02020900000000000000" pitchFamily="18" charset="-128"/>
              </a:rPr>
              <a:t>・新人の完全戦力化・次期リーダー育成開始（担当：新原）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7771CA8-6E3D-DF9A-45C9-B70D1285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8115495-9FB5-76C4-E9A6-BB3B78A4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03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EC37A-5055-B2F2-F3A6-418EA76D1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EDFB16-4F84-E9A2-FCFD-221AE46CE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1420"/>
            <a:ext cx="8229600" cy="4525963"/>
          </a:xfrm>
        </p:spPr>
        <p:txBody>
          <a:bodyPr/>
          <a:lstStyle/>
          <a:p>
            <a:pPr lvl="2"/>
            <a:r>
              <a:rPr lang="ja-JP" altLang="en-US" sz="1800" dirty="0">
                <a:latin typeface="HG明朝E" panose="02020909000000000000" pitchFamily="17" charset="-128"/>
                <a:ea typeface="HG明朝E" panose="02020909000000000000" pitchFamily="17" charset="-128"/>
              </a:rPr>
              <a:t>第一グループ（担当：GL）</a:t>
            </a:r>
          </a:p>
          <a:p>
            <a:pPr lvl="2"/>
            <a:r>
              <a:rPr lang="en-US" altLang="ja-JP" sz="1600" dirty="0">
                <a:latin typeface="HG明朝E" panose="02020909000000000000" pitchFamily="17" charset="-128"/>
                <a:ea typeface="HG明朝E" panose="02020909000000000000" pitchFamily="17" charset="-128"/>
              </a:rPr>
              <a:t>・FJサポート縮小後の新規取引先開拓 → 4月～9月</a:t>
            </a:r>
          </a:p>
          <a:p>
            <a:pPr lvl="2"/>
            <a:r>
              <a:rPr lang="en-US" altLang="ja-JP" sz="1600" dirty="0">
                <a:latin typeface="HG明朝E" panose="02020909000000000000" pitchFamily="17" charset="-128"/>
                <a:ea typeface="HG明朝E" panose="02020909000000000000" pitchFamily="17" charset="-128"/>
              </a:rPr>
              <a:t>・CA社サポートのさらなる拡大（目標+2名） → 4月～</a:t>
            </a:r>
          </a:p>
          <a:p>
            <a:pPr lvl="2"/>
            <a:r>
              <a:rPr lang="en-US" altLang="ja-JP" sz="1600" dirty="0">
                <a:latin typeface="HG明朝E" panose="02020909000000000000" pitchFamily="17" charset="-128"/>
                <a:ea typeface="HG明朝E" panose="02020909000000000000" pitchFamily="17" charset="-128"/>
              </a:rPr>
              <a:t>・開発チームのAI活用提案による新規案件獲得 → 通年</a:t>
            </a:r>
          </a:p>
          <a:p>
            <a:pPr lvl="2"/>
            <a:r>
              <a:rPr lang="ja-JP" altLang="en-US" sz="1800" dirty="0">
                <a:latin typeface="HG明朝E" panose="02020909000000000000" pitchFamily="17" charset="-128"/>
                <a:ea typeface="HG明朝E" panose="02020909000000000000" pitchFamily="17" charset="-128"/>
              </a:rPr>
              <a:t>第二グループ（担当：GL）</a:t>
            </a:r>
          </a:p>
          <a:p>
            <a:pPr lvl="2"/>
            <a:r>
              <a:rPr lang="en-US" altLang="ja-JP" sz="1600" dirty="0">
                <a:latin typeface="HG明朝E" panose="02020909000000000000" pitchFamily="17" charset="-128"/>
                <a:ea typeface="HG明朝E" panose="02020909000000000000" pitchFamily="17" charset="-128"/>
              </a:rPr>
              <a:t>・スポット作業の継続受注と新規案件開拓 → 通年</a:t>
            </a:r>
          </a:p>
          <a:p>
            <a:pPr lvl="2"/>
            <a:r>
              <a:rPr lang="ja-JP" altLang="en-US" sz="1800" dirty="0">
                <a:latin typeface="HG明朝E" panose="02020909000000000000" pitchFamily="17" charset="-128"/>
                <a:ea typeface="HG明朝E" panose="02020909000000000000" pitchFamily="17" charset="-128"/>
              </a:rPr>
              <a:t>アプリ開発グループ（担当：GL）</a:t>
            </a:r>
          </a:p>
          <a:p>
            <a:pPr lvl="2"/>
            <a:r>
              <a:rPr lang="en-US" altLang="ja-JP" sz="1600" dirty="0">
                <a:latin typeface="HG明朝E" panose="02020909000000000000" pitchFamily="17" charset="-128"/>
                <a:ea typeface="HG明朝E" panose="02020909000000000000" pitchFamily="17" charset="-128"/>
              </a:rPr>
              <a:t>・AWS移行完了後の新規スポット案件確保 → 上期中</a:t>
            </a:r>
          </a:p>
          <a:p>
            <a:pPr lvl="2"/>
            <a:r>
              <a:rPr lang="en-US" altLang="ja-JP" sz="1600" dirty="0">
                <a:latin typeface="HG明朝E" panose="02020909000000000000" pitchFamily="17" charset="-128"/>
                <a:ea typeface="HG明朝E" panose="02020909000000000000" pitchFamily="17" charset="-128"/>
              </a:rPr>
              <a:t>・Docker移行作業の推進・完了 → 9月目処</a:t>
            </a:r>
          </a:p>
          <a:p>
            <a:pPr lvl="2"/>
            <a:r>
              <a:rPr lang="ja-JP" altLang="en-US" sz="1800" dirty="0">
                <a:latin typeface="HG明朝E" panose="02020909000000000000" pitchFamily="17" charset="-128"/>
                <a:ea typeface="HG明朝E" panose="02020909000000000000" pitchFamily="17" charset="-128"/>
              </a:rPr>
              <a:t>システム基盤グループ（担当：GL）</a:t>
            </a:r>
          </a:p>
          <a:p>
            <a:pPr lvl="2"/>
            <a:r>
              <a:rPr lang="en-US" altLang="ja-JP" sz="1600" dirty="0">
                <a:latin typeface="HG明朝E" panose="02020909000000000000" pitchFamily="17" charset="-128"/>
                <a:ea typeface="HG明朝E" panose="02020909000000000000" pitchFamily="17" charset="-128"/>
              </a:rPr>
              <a:t>・要員ローテによる事業継続 → 通年</a:t>
            </a:r>
          </a:p>
          <a:p>
            <a:pPr lvl="2"/>
            <a:r>
              <a:rPr lang="en-US" altLang="ja-JP" sz="1600" dirty="0">
                <a:latin typeface="HG明朝E" panose="02020909000000000000" pitchFamily="17" charset="-128"/>
                <a:ea typeface="HG明朝E" panose="02020909000000000000" pitchFamily="17" charset="-128"/>
              </a:rPr>
              <a:t>・追加要員確保（目標1名） → 上期中（担当：新原）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4C520E-B9CA-6953-42A7-2ECF7569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E5BC7FA-9CE3-B464-27DF-2B9BEFEC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D04E05E7-F598-F74F-63FD-B49D32BAF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Autofit/>
          </a:bodyPr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２０２６年度活動計画題／課題解決（</a:t>
            </a:r>
            <a:r>
              <a:rPr lang="en-US" altLang="ja-JP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2</a:t>
            </a:r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/2）</a:t>
            </a:r>
            <a:endParaRPr kumimoji="1" lang="ja-JP" altLang="en-US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760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C7F595-7A80-4217-93D7-DCF19B97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/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２０２５年度売上実績〔予算比〕</a:t>
            </a:r>
            <a:endParaRPr kumimoji="1" lang="ja-JP" altLang="en-US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E8DE5BE8-7E77-4E34-92E7-08194263E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902112"/>
              </p:ext>
            </p:extLst>
          </p:nvPr>
        </p:nvGraphicFramePr>
        <p:xfrm>
          <a:off x="107504" y="1598309"/>
          <a:ext cx="8896868" cy="46970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72868">
                  <a:extLst>
                    <a:ext uri="{9D8B030D-6E8A-4147-A177-3AD203B41FA5}">
                      <a16:colId xmlns:a16="http://schemas.microsoft.com/office/drawing/2014/main" val="375856748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66676062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89122190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270099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06139178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3268466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06147773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7781971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6360419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530782375"/>
                    </a:ext>
                  </a:extLst>
                </a:gridCol>
              </a:tblGrid>
              <a:tr h="521914">
                <a:tc rowSpan="3"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２０２４年度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345156"/>
                  </a:ext>
                </a:extLst>
              </a:tr>
              <a:tr h="7761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上</a:t>
                      </a:r>
                      <a:r>
                        <a:rPr lang="ja-JP" altLang="en-US" sz="2000" b="1" dirty="0"/>
                        <a:t>　　</a:t>
                      </a:r>
                      <a:r>
                        <a:rPr kumimoji="1" lang="ja-JP" altLang="en-US" sz="2000" b="1" dirty="0"/>
                        <a:t>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/>
                        <a:t>下</a:t>
                      </a:r>
                      <a:r>
                        <a:rPr lang="ja-JP" altLang="en-US" sz="2000" b="1" dirty="0"/>
                        <a:t>　　</a:t>
                      </a:r>
                      <a:r>
                        <a:rPr kumimoji="1" lang="ja-JP" altLang="en-US" sz="2000" b="1" dirty="0"/>
                        <a:t>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ja-JP" altLang="en-US" sz="2000" b="1" dirty="0"/>
                        <a:t>年　　度</a:t>
                      </a:r>
                      <a:endParaRPr lang="en-US" altLang="ja-JP" sz="2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8321516"/>
                  </a:ext>
                </a:extLst>
              </a:tr>
              <a:tr h="7761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  <a:endParaRPr kumimoji="1" lang="en-US" altLang="ja-JP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/>
                        <a:t>予算比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  <a:endParaRPr kumimoji="1" lang="en-US" altLang="ja-JP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/>
                        <a:t>予算比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  <a:endParaRPr kumimoji="1" lang="en-US" altLang="ja-JP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予算比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465780"/>
                  </a:ext>
                </a:extLst>
              </a:tr>
              <a:tr h="825510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売上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200,250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186,528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93.1</a:t>
                      </a:r>
                      <a:r>
                        <a:rPr kumimoji="1" lang="ja-JP" altLang="en-US" sz="1200" dirty="0"/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199,588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183,650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92.0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399,838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370,178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92.6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721930"/>
                  </a:ext>
                </a:extLst>
              </a:tr>
              <a:tr h="920497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売上</a:t>
                      </a:r>
                      <a:endParaRPr kumimoji="1" lang="en-US" altLang="ja-JP" sz="1100" b="1" dirty="0"/>
                    </a:p>
                    <a:p>
                      <a:r>
                        <a:rPr lang="en-US" altLang="ja-JP" sz="1100" b="1" dirty="0"/>
                        <a:t>／人</a:t>
                      </a:r>
                      <a:endParaRPr kumimoji="1" lang="en-US" altLang="ja-JP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3,814</a:t>
                      </a:r>
                    </a:p>
                    <a:p>
                      <a:pPr algn="r"/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636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3,622</a:t>
                      </a:r>
                    </a:p>
                    <a:p>
                      <a:pPr algn="r"/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604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95.0</a:t>
                      </a:r>
                      <a:r>
                        <a:rPr lang="ja-JP" altLang="en-US" sz="1200" dirty="0"/>
                        <a:t>％</a:t>
                      </a:r>
                      <a:endParaRPr kumimoji="1" lang="ja-JP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3,838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640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3,637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606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>
                          <a:solidFill>
                            <a:schemeClr val="tx1"/>
                          </a:solidFill>
                        </a:rPr>
                        <a:t>94.8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</a:rPr>
                        <a:t>％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7,645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638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7,258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605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 xml:space="preserve"> 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>
                          <a:solidFill>
                            <a:schemeClr val="tx1"/>
                          </a:solidFill>
                        </a:rPr>
                        <a:t>94.9</a:t>
                      </a:r>
                      <a:r>
                        <a:rPr lang="ja-JP" altLang="en-US" sz="1200" dirty="0">
                          <a:solidFill>
                            <a:schemeClr val="tx1"/>
                          </a:solidFill>
                        </a:rPr>
                        <a:t>％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119563"/>
                  </a:ext>
                </a:extLst>
              </a:tr>
              <a:tr h="876888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所属人数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52.5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algn="r"/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315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51.5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309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52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algn="r"/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312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50.5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303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52.3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627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51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612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5509157"/>
                  </a:ext>
                </a:extLst>
              </a:tr>
            </a:tbl>
          </a:graphicData>
        </a:graphic>
      </p:graphicFrame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2C6BAA92-5228-4636-BFA4-C920C6D1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68888" y="6356350"/>
            <a:ext cx="2895600" cy="365125"/>
          </a:xfrm>
        </p:spPr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8951C0-B1C7-4D80-9262-863BD343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12BF6C4-C52B-4E5A-BEE3-4AB29EC9351C}"/>
              </a:ext>
            </a:extLst>
          </p:cNvPr>
          <p:cNvSpPr txBox="1"/>
          <p:nvPr/>
        </p:nvSpPr>
        <p:spPr>
          <a:xfrm>
            <a:off x="7554054" y="1321309"/>
            <a:ext cx="144872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1200" dirty="0"/>
              <a:t>　</a:t>
            </a:r>
            <a:r>
              <a:rPr kumimoji="1" lang="ja-JP" altLang="en-US" sz="1200" b="1" dirty="0"/>
              <a:t>（売上単位：千円）</a:t>
            </a:r>
            <a:endParaRPr lang="ja-JP" altLang="en-US" sz="1200" b="1" dirty="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68291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C7F595-7A80-4217-93D7-DCF19B97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/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２０２６年度売上予算〔前年度比〕</a:t>
            </a:r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E8DE5BE8-7E77-4E34-92E7-08194263ED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8609174"/>
              </p:ext>
            </p:extLst>
          </p:nvPr>
        </p:nvGraphicFramePr>
        <p:xfrm>
          <a:off x="107504" y="1598309"/>
          <a:ext cx="8896868" cy="46970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72868">
                  <a:extLst>
                    <a:ext uri="{9D8B030D-6E8A-4147-A177-3AD203B41FA5}">
                      <a16:colId xmlns:a16="http://schemas.microsoft.com/office/drawing/2014/main" val="375856748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66676062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89122190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48270099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06139178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32684660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06147773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417781971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963604192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530782375"/>
                    </a:ext>
                  </a:extLst>
                </a:gridCol>
              </a:tblGrid>
              <a:tr h="521914">
                <a:tc rowSpan="3"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２０２５年度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345156"/>
                  </a:ext>
                </a:extLst>
              </a:tr>
              <a:tr h="7761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上</a:t>
                      </a:r>
                      <a:r>
                        <a:rPr lang="ja-JP" altLang="en-US" sz="1200" b="1" dirty="0"/>
                        <a:t>　　</a:t>
                      </a:r>
                      <a:r>
                        <a:rPr kumimoji="1" lang="ja-JP" altLang="en-US" sz="1200" b="1" dirty="0"/>
                        <a:t>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/>
                        <a:t>下</a:t>
                      </a:r>
                      <a:r>
                        <a:rPr lang="ja-JP" altLang="en-US" sz="1200" b="1" dirty="0"/>
                        <a:t>　　</a:t>
                      </a:r>
                      <a:r>
                        <a:rPr kumimoji="1" lang="ja-JP" altLang="en-US" sz="1200" b="1" dirty="0"/>
                        <a:t>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ja-JP" altLang="en-US" sz="1200" b="1" dirty="0"/>
                        <a:t>年　　度</a:t>
                      </a:r>
                      <a:endParaRPr lang="en-US" altLang="ja-JP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8321516"/>
                  </a:ext>
                </a:extLst>
              </a:tr>
              <a:tr h="77610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2024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2025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b="1" dirty="0"/>
                        <a:t>前年度</a:t>
                      </a:r>
                      <a:r>
                        <a:rPr kumimoji="1" lang="ja-JP" altLang="en-US" sz="1200" b="1" dirty="0"/>
                        <a:t>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2024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2025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b="1" dirty="0"/>
                        <a:t>前年度</a:t>
                      </a:r>
                      <a:r>
                        <a:rPr kumimoji="1" lang="ja-JP" altLang="en-US" sz="1200" b="1" dirty="0"/>
                        <a:t>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2024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実績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b="1" dirty="0"/>
                        <a:t>2025</a:t>
                      </a:r>
                      <a:r>
                        <a:rPr kumimoji="1" lang="ja-JP" altLang="en-US" sz="1200" b="1" dirty="0"/>
                        <a:t>年度</a:t>
                      </a:r>
                      <a:endParaRPr kumimoji="1" lang="en-US" altLang="ja-JP" sz="1200" b="1" dirty="0"/>
                    </a:p>
                    <a:p>
                      <a:pPr algn="ctr"/>
                      <a:r>
                        <a:rPr kumimoji="1" lang="ja-JP" altLang="en-US" sz="1200" b="1" dirty="0"/>
                        <a:t>予算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200" b="1" dirty="0"/>
                        <a:t>前年度</a:t>
                      </a:r>
                      <a:r>
                        <a:rPr kumimoji="1" lang="ja-JP" altLang="en-US" sz="1200" b="1" dirty="0"/>
                        <a:t>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465780"/>
                  </a:ext>
                </a:extLst>
              </a:tr>
              <a:tr h="825510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売上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186,528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194,000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104</a:t>
                      </a:r>
                      <a:r>
                        <a:rPr lang="ja-JP" altLang="en-US" sz="1200" dirty="0"/>
                        <a:t>.</a:t>
                      </a:r>
                      <a:r>
                        <a:rPr lang="en-US" altLang="ja-JP" sz="1200" dirty="0"/>
                        <a:t>0</a:t>
                      </a:r>
                      <a:r>
                        <a:rPr kumimoji="1" lang="ja-JP" altLang="en-US" sz="1200" dirty="0"/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183,650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199,000</a:t>
                      </a:r>
                      <a:endParaRPr kumimoji="1" lang="en-US" alt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dirty="0"/>
                        <a:t>108</a:t>
                      </a:r>
                      <a:r>
                        <a:rPr lang="ja-JP" altLang="en-US" sz="1200" dirty="0"/>
                        <a:t>.</a:t>
                      </a:r>
                      <a:r>
                        <a:rPr lang="en-US" altLang="ja-JP" sz="1200" dirty="0"/>
                        <a:t>4</a:t>
                      </a:r>
                      <a:r>
                        <a:rPr kumimoji="1" lang="ja-JP" altLang="en-US" sz="1200" dirty="0"/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370,178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393,000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dirty="0"/>
                        <a:t>106</a:t>
                      </a:r>
                      <a:r>
                        <a:rPr lang="ja-JP" altLang="en-US" sz="1200" dirty="0"/>
                        <a:t>.</a:t>
                      </a:r>
                      <a:r>
                        <a:rPr lang="en-US" altLang="ja-JP" sz="1200" dirty="0"/>
                        <a:t>2</a:t>
                      </a:r>
                      <a:r>
                        <a:rPr kumimoji="1" lang="ja-JP" altLang="en-US" sz="1200" dirty="0"/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0721930"/>
                  </a:ext>
                </a:extLst>
              </a:tr>
              <a:tr h="920497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売上</a:t>
                      </a:r>
                      <a:endParaRPr kumimoji="1" lang="en-US" altLang="ja-JP" sz="1100" b="1" dirty="0"/>
                    </a:p>
                    <a:p>
                      <a:r>
                        <a:rPr lang="ja-JP" altLang="en-US" sz="1100" b="1" dirty="0"/>
                        <a:t>／人</a:t>
                      </a:r>
                      <a:endParaRPr kumimoji="1" lang="ja-JP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3,622</a:t>
                      </a:r>
                    </a:p>
                    <a:p>
                      <a:pPr algn="r"/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604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3,660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610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altLang="ja-JP" sz="1200" b="0" i="0" u="none" strike="noStrike" noProof="0" dirty="0">
                          <a:latin typeface="Tahoma"/>
                        </a:rPr>
                        <a:t>101.0</a:t>
                      </a:r>
                      <a:r>
                        <a:rPr lang="ja-JP" sz="1200" b="0" i="0" u="none" strike="noStrike" noProof="0" dirty="0">
                          <a:latin typeface="Tahoma"/>
                        </a:rPr>
                        <a:t>％</a:t>
                      </a:r>
                      <a:endParaRPr kumimoji="1" lang="ja-JP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3,637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606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3,755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626</a:t>
                      </a:r>
                      <a:r>
                        <a:rPr kumimoji="1" lang="ja-JP" altLang="en-US" sz="12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ja-JP" sz="1200" b="0" i="0" u="none" strike="noStrike" noProof="0" dirty="0">
                          <a:latin typeface="Tahoma"/>
                        </a:rPr>
                        <a:t>103.2</a:t>
                      </a:r>
                      <a:r>
                        <a:rPr lang="ja-JP" sz="1200" b="0" i="0" u="none" strike="noStrike" noProof="0" dirty="0">
                          <a:latin typeface="Tahoma"/>
                        </a:rPr>
                        <a:t>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7,258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605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 xml:space="preserve"> </a:t>
                      </a:r>
                      <a:endParaRPr kumimoji="1" lang="ja-JP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7,415</a:t>
                      </a:r>
                      <a:r>
                        <a:rPr kumimoji="1" lang="ja-JP" altLang="en-US" sz="1200" dirty="0"/>
                        <a:t>（</a:t>
                      </a:r>
                      <a:r>
                        <a:rPr kumimoji="1" lang="en-US" altLang="ja-JP" sz="1200" dirty="0"/>
                        <a:t>618</a:t>
                      </a:r>
                      <a:r>
                        <a:rPr kumimoji="1" lang="ja-JP" altLang="en-US" sz="1200" dirty="0"/>
                        <a:t>）</a:t>
                      </a:r>
                      <a:r>
                        <a:rPr kumimoji="1" lang="en-US" altLang="ja-JP" sz="1200" dirty="0"/>
                        <a:t xml:space="preserve"> </a:t>
                      </a:r>
                      <a:endParaRPr kumimoji="1" lang="ja-JP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ja-JP" sz="1200" dirty="0"/>
                        <a:t>102.2</a:t>
                      </a:r>
                      <a:r>
                        <a:rPr lang="ja-JP" altLang="en-US" sz="1200" dirty="0"/>
                        <a:t>%</a:t>
                      </a:r>
                      <a:endParaRPr kumimoji="1" lang="ja-JP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119563"/>
                  </a:ext>
                </a:extLst>
              </a:tr>
              <a:tr h="876888">
                <a:tc>
                  <a:txBody>
                    <a:bodyPr/>
                    <a:lstStyle/>
                    <a:p>
                      <a:r>
                        <a:rPr kumimoji="1" lang="ja-JP" altLang="en-US" sz="1100" b="1" dirty="0"/>
                        <a:t>所属人数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51.5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309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53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318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50.5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303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53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algn="r"/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318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/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51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（計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</a:rPr>
                        <a:t>612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</a:rPr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200" dirty="0"/>
                        <a:t>53</a:t>
                      </a:r>
                      <a:r>
                        <a:rPr kumimoji="1" lang="ja-JP" altLang="en-US" sz="1200" dirty="0"/>
                        <a:t>名</a:t>
                      </a:r>
                      <a:endParaRPr kumimoji="1" lang="en-US" altLang="ja-JP" sz="1200" dirty="0"/>
                    </a:p>
                    <a:p>
                      <a:pPr algn="r"/>
                      <a:r>
                        <a:rPr kumimoji="1" lang="ja-JP" altLang="en-US" sz="1200" dirty="0"/>
                        <a:t>（計</a:t>
                      </a:r>
                      <a:r>
                        <a:rPr kumimoji="1" lang="en-US" altLang="ja-JP" sz="1200" dirty="0"/>
                        <a:t>636</a:t>
                      </a:r>
                      <a:r>
                        <a:rPr kumimoji="1" lang="ja-JP" altLang="en-US" sz="1200" dirty="0"/>
                        <a:t>名）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/>
                        <a:t>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5509157"/>
                  </a:ext>
                </a:extLst>
              </a:tr>
            </a:tbl>
          </a:graphicData>
        </a:graphic>
      </p:graphicFrame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2C6BAA92-5228-4636-BFA4-C920C6D1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68888" y="6356350"/>
            <a:ext cx="2895600" cy="365125"/>
          </a:xfrm>
        </p:spPr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8951C0-B1C7-4D80-9262-863BD343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12BF6C4-C52B-4E5A-BEE3-4AB29EC9351C}"/>
              </a:ext>
            </a:extLst>
          </p:cNvPr>
          <p:cNvSpPr txBox="1"/>
          <p:nvPr/>
        </p:nvSpPr>
        <p:spPr>
          <a:xfrm>
            <a:off x="8171892" y="1321309"/>
            <a:ext cx="97210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ja-JP" altLang="en-US" sz="1200" dirty="0">
              <a:cs typeface="Tahoma"/>
            </a:endParaRPr>
          </a:p>
        </p:txBody>
      </p:sp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CF85CA50-5B18-8A73-CBF4-637638FB92FA}"/>
              </a:ext>
            </a:extLst>
          </p:cNvPr>
          <p:cNvSpPr txBox="1"/>
          <p:nvPr/>
        </p:nvSpPr>
        <p:spPr>
          <a:xfrm>
            <a:off x="7554054" y="1321309"/>
            <a:ext cx="1448725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1200" dirty="0"/>
              <a:t>　</a:t>
            </a:r>
            <a:r>
              <a:rPr kumimoji="1" lang="ja-JP" altLang="en-US" sz="1200" b="1" dirty="0"/>
              <a:t>（売上単位：千円）</a:t>
            </a:r>
            <a:endParaRPr lang="ja-JP" altLang="en-US" sz="1200" b="1" dirty="0"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66690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33A412-11FE-E093-2905-0B777386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6600000" cy="1100000"/>
          </a:xfrm>
        </p:spPr>
        <p:txBody>
          <a:bodyPr>
            <a:normAutofit fontScale="90000"/>
          </a:bodyPr>
          <a:lstStyle/>
          <a:p>
            <a:r>
              <a:rPr lang="ja-JP" altLang="en-US" sz="2800" dirty="0">
                <a:latin typeface="HGS明朝E" panose="02020900000000000000" pitchFamily="18" charset="-128"/>
                <a:ea typeface="HGS明朝E" panose="02020900000000000000" pitchFamily="18" charset="-128"/>
              </a:rPr>
              <a:t>２０２６年度売上予算〔前年度比〕</a:t>
            </a:r>
            <a:br>
              <a:rPr lang="en-US" altLang="ja-JP" sz="28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800" dirty="0">
                <a:latin typeface="HGS明朝E" panose="02020900000000000000" pitchFamily="18" charset="-128"/>
                <a:ea typeface="HGS明朝E" panose="02020900000000000000" pitchFamily="18" charset="-128"/>
              </a:rPr>
              <a:t>・主要因／課題　・具体策　・中期的施策</a:t>
            </a:r>
            <a:br>
              <a:rPr lang="ja-JP" altLang="en-US" sz="28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endParaRPr lang="ja-JP" altLang="en-US" sz="28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C61101-C56B-195B-1C58-D52B6238D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ja-JP" altLang="en-US" sz="1800" dirty="0">
                <a:latin typeface="HGS明朝E" panose="02020900000000000000" pitchFamily="18" charset="-128"/>
                <a:ea typeface="HGS明朝E" panose="02020900000000000000" pitchFamily="18" charset="-128"/>
              </a:rPr>
              <a:t>【2025年度　業績概況（概算）】</a:t>
            </a:r>
          </a:p>
          <a:p>
            <a:pPr lvl="2"/>
            <a:r>
              <a:rPr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売上：前年度比 98.1%（FJサポート縮小が主要因）</a:t>
            </a:r>
          </a:p>
          <a:p>
            <a:pPr lvl="2"/>
            <a:r>
              <a:rPr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原価率：83.2%　　利益率：16.8%</a:t>
            </a:r>
          </a:p>
          <a:p>
            <a:pPr lvl="1"/>
            <a:r>
              <a:rPr lang="ja-JP" altLang="en-US" sz="1800" dirty="0">
                <a:latin typeface="HGS明朝E" panose="02020900000000000000" pitchFamily="18" charset="-128"/>
                <a:ea typeface="HGS明朝E" panose="02020900000000000000" pitchFamily="18" charset="-128"/>
              </a:rPr>
              <a:t>【2026年度　数値目標】</a:t>
            </a:r>
          </a:p>
          <a:p>
            <a:pPr lvl="2"/>
            <a:r>
              <a:rPr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売上：前年度比 103%（部門全体）/ 個人平均 前年比 103%</a:t>
            </a:r>
          </a:p>
          <a:p>
            <a:pPr lvl="2"/>
            <a:r>
              <a:rPr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原価率：目標 82%以下　利益率：目標 18%以上</a:t>
            </a:r>
          </a:p>
          <a:p>
            <a:pPr lvl="1"/>
            <a:r>
              <a:rPr lang="ja-JP" altLang="en-US" sz="1800" dirty="0">
                <a:latin typeface="HGS明朝E" panose="02020900000000000000" pitchFamily="18" charset="-128"/>
                <a:ea typeface="HGS明朝E" panose="02020900000000000000" pitchFamily="18" charset="-128"/>
              </a:rPr>
              <a:t>主要因（前年度の課題）</a:t>
            </a:r>
          </a:p>
          <a:p>
            <a:pPr lvl="2"/>
            <a:r>
              <a:rPr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FJサポート縮小による売上減少 → 代替案件確保が急務</a:t>
            </a:r>
          </a:p>
          <a:p>
            <a:pPr lvl="2"/>
            <a:r>
              <a:rPr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新規開発案件の未受注 → AI活用提案力の強化が必要</a:t>
            </a:r>
          </a:p>
          <a:p>
            <a:pPr lvl="1"/>
            <a:r>
              <a:rPr lang="ja-JP" altLang="en-US" sz="1800" dirty="0">
                <a:latin typeface="HGS明朝E" panose="02020900000000000000" pitchFamily="18" charset="-128"/>
                <a:ea typeface="HGS明朝E" panose="02020900000000000000" pitchFamily="18" charset="-128"/>
              </a:rPr>
              <a:t>【施策】</a:t>
            </a:r>
          </a:p>
          <a:p>
            <a:pPr lvl="2"/>
            <a:r>
              <a:rPr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新規取引先開拓・AI活用提案強化（担当：各GL）</a:t>
            </a:r>
          </a:p>
          <a:p>
            <a:pPr lvl="2"/>
            <a:r>
              <a:rPr lang="ja-JP" altLang="en-US" sz="1600" dirty="0">
                <a:latin typeface="HGS明朝E" panose="02020900000000000000" pitchFamily="18" charset="-128"/>
                <a:ea typeface="HGS明朝E" panose="02020900000000000000" pitchFamily="18" charset="-128"/>
              </a:rPr>
              <a:t>既存発注元への深耕営業・単金交渉（担当：各GL）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8015BF-04A7-9155-3011-EF786769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A51A870-0E5A-D5DA-2FC9-F6509111C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92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55283-CA29-45E0-70A8-3D7BAD1F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6600000" cy="706090"/>
          </a:xfrm>
        </p:spPr>
        <p:txBody>
          <a:bodyPr>
            <a:normAutofit fontScale="90000"/>
          </a:bodyPr>
          <a:lstStyle/>
          <a:p>
            <a:r>
              <a:rPr lang="ja-JP" altLang="en-US" sz="2800" dirty="0">
                <a:latin typeface="HGS明朝E" panose="02020900000000000000" pitchFamily="18" charset="-128"/>
                <a:ea typeface="HGS明朝E" panose="02020900000000000000" pitchFamily="18" charset="-128"/>
              </a:rPr>
              <a:t>職場環境改善活動計画および実施状況</a:t>
            </a:r>
            <a:br>
              <a:rPr lang="ja-JP" altLang="en-US" sz="2800" dirty="0">
                <a:latin typeface="HGS明朝E" panose="02020900000000000000" pitchFamily="18" charset="-128"/>
                <a:ea typeface="HGS明朝E" panose="02020900000000000000" pitchFamily="18" charset="-128"/>
              </a:rPr>
            </a:br>
            <a:r>
              <a:rPr lang="ja-JP" altLang="en-US" sz="2800" dirty="0">
                <a:latin typeface="HGS明朝E" panose="02020900000000000000" pitchFamily="18" charset="-128"/>
                <a:ea typeface="HGS明朝E" panose="02020900000000000000" pitchFamily="18" charset="-128"/>
              </a:rPr>
              <a:t>〔２０２５年度実績／２０２６年度計画〕</a:t>
            </a:r>
            <a:endParaRPr lang="ja-JP" altLang="en-US" sz="2800" dirty="0">
              <a:latin typeface="HGS明朝E" panose="02020900000000000000" pitchFamily="18" charset="-128"/>
              <a:ea typeface="HGS明朝E" panose="020209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12418D-FE1E-9200-AC86-35C2D715E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【ストレスチェック結果（2025年度）】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高ストレス者割合：18.3%（業界平均 約12%  → 要注意）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主訴：時間外労働増加・業務量過多・コミュニケーション不足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【2025年度 実施した改善活動】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Teamsを活用した相談窓口の整備（2025年上期～）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月1回の1on1面談の試験実施（下期・希望者対象）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技術勉強会・懇親会の定期実施（四半期ごと）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【2026年度 改善計画】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高ストレス者への個別フォロー体制整備（担当：部課長）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AI活用による業務効率化で時間外削減目標：10%減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1on1面談の全員実施（月1回）を制度化（4月～）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1D61D8-1F70-6E8B-B0A2-41D9CD40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8CDA61-2263-1D92-22F1-E77653E5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2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77084-B1A2-72EB-128D-2EC7683A9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8753E6-E8AA-940C-6776-3F0B408D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62670"/>
            <a:ext cx="8229600" cy="706090"/>
          </a:xfrm>
        </p:spPr>
        <p:txBody>
          <a:bodyPr>
            <a:normAutofit/>
          </a:bodyPr>
          <a:lstStyle/>
          <a:p>
            <a:r>
              <a:rPr lang="ja-JP" altLang="en-US" dirty="0">
                <a:latin typeface="HGS明朝E" panose="02020900000000000000" pitchFamily="18" charset="-128"/>
                <a:ea typeface="HGS明朝E" panose="02020900000000000000" pitchFamily="18" charset="-128"/>
              </a:rPr>
              <a:t>部門全般に関する問題点および課題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4A06D5-EE75-5304-0AB5-8BDF9C868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【問題点】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①新規開発案件の受注力不足（技術スキル・提案力）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②IT人材不足の中での採用・定着の困難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③次世代リーダー・技術者の育成遅れ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【課題】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①AI・クラウド技術の実践的スキルを組織的に習得する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②若手の自律的成長を促す評価・育成制度の整備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③既存顧客深耕と新規開拓の両立による売上基盤強化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8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【共有・相談したい事項】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他部門での生成AI活用事例の共有を希望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ja-JP" altLang="en-US" sz="1600" b="1" dirty="0">
                <a:latin typeface="HGS明朝E" panose="02020900000000000000" pitchFamily="18" charset="-128"/>
                <a:ea typeface="HGS明朝E" panose="02020900000000000000" pitchFamily="18" charset="-128"/>
                <a:cs typeface="メイリオ" panose="020B0604030504040204" pitchFamily="50" charset="-128"/>
              </a:rPr>
              <a:t>通年採用への参画・支援のお願い（採用チームとの連携）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0012154-D502-59B3-0B59-4B3B9A36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Copyright(c) 2026 NATO HIGHSYSTEMS</a:t>
            </a:r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76E8B8-7ED3-1140-65DA-FEDDA4B9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445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スライド 1 - &amp;quot;サポートグループ活動方針&amp;quot;&quot;/&gt;&lt;property id=&quot;20307&quot; value=&quot;256&quot;/&gt;&lt;/object&gt;&lt;object type=&quot;3&quot; unique_id=&quot;10004&quot;&gt;&lt;property id=&quot;20148&quot; value=&quot;5&quot;/&gt;&lt;property id=&quot;20300&quot; value=&quot;スライド 2 - &amp;quot;目次&amp;quot;&quot;/&gt;&lt;property id=&quot;20307&quot; value=&quot;257&quot;/&gt;&lt;/object&gt;&lt;object type=&quot;3&quot; unique_id=&quot;10011&quot;&gt;&lt;property id=&quot;20148&quot; value=&quot;5&quot;/&gt;&lt;property id=&quot;20300&quot; value=&quot;スライド 4 - &amp;quot;２．平成29年度振り返り&amp;quot;&quot;/&gt;&lt;property id=&quot;20307&quot; value=&quot;261&quot;/&gt;&lt;/object&gt;&lt;object type=&quot;3&quot; unique_id=&quot;10012&quot;&gt;&lt;property id=&quot;20148&quot; value=&quot;5&quot;/&gt;&lt;property id=&quot;20300&quot; value=&quot;スライド 5 - &amp;quot;２．平成29年度振り返り&amp;quot;&quot;/&gt;&lt;property id=&quot;20307&quot; value=&quot;270&quot;/&gt;&lt;/object&gt;&lt;object type=&quot;3&quot; unique_id=&quot;10014&quot;&gt;&lt;property id=&quot;20148&quot; value=&quot;5&quot;/&gt;&lt;property id=&quot;20300&quot; value=&quot;スライド 6 - &amp;quot;３．平成30年度活動方針&amp;quot;&quot;/&gt;&lt;property id=&quot;20307&quot; value=&quot;263&quot;/&gt;&lt;/object&gt;&lt;object type=&quot;3&quot; unique_id=&quot;10016&quot;&gt;&lt;property id=&quot;20148&quot; value=&quot;5&quot;/&gt;&lt;property id=&quot;20300&quot; value=&quot;スライド 7 - &amp;quot;４．取り組みついて&amp;quot;&quot;/&gt;&lt;property id=&quot;20307&quot; value=&quot;262&quot;/&gt;&lt;/object&gt;&lt;object type=&quot;3&quot; unique_id=&quot;10017&quot;&gt;&lt;property id=&quot;20148&quot; value=&quot;5&quot;/&gt;&lt;property id=&quot;20300&quot; value=&quot;スライド 8 - &amp;quot;４．取り組みついて&amp;quot;&quot;/&gt;&lt;property id=&quot;20307&quot; value=&quot;271&quot;/&gt;&lt;/object&gt;&lt;object type=&quot;3&quot; unique_id=&quot;10019&quot;&gt;&lt;property id=&quot;20148&quot; value=&quot;5&quot;/&gt;&lt;property id=&quot;20300&quot; value=&quot;スライド 9 - &amp;quot;５．その他&amp;quot;&quot;/&gt;&lt;property id=&quot;20307&quot; value=&quot;264&quot;/&gt;&lt;/object&gt;&lt;object type=&quot;3&quot; unique_id=&quot;10289&quot;&gt;&lt;property id=&quot;20148&quot; value=&quot;5&quot;/&gt;&lt;property id=&quot;20300&quot; value=&quot;スライド 3 - &amp;quot;１．業務概要&amp;quot;&quot;/&gt;&lt;property id=&quot;20307&quot; value=&quot;272&quot;/&gt;&lt;/object&gt;&lt;/object&gt;&lt;object type=&quot;8&quot; unique_id=&quot;1003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フォントパターン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
<Relationships xmlns="http://schemas.openxmlformats.org/package/2006/relationships">
  <Relationship Id="rId1" Type="http://schemas.openxmlformats.org/officeDocument/2006/relationships/customXmlProps" Target="itemProps1.xml"/>
</Relationships>

</file>

<file path=customXml/_rels/item2.xml.rels><?xml version="1.0" encoding="utf-8"?>
<Relationships xmlns="http://schemas.openxmlformats.org/package/2006/relationships">
  <Relationship Id="rId1" Type="http://schemas.openxmlformats.org/officeDocument/2006/relationships/customXmlProps" Target="itemProps2.xml"/>
</Relationships>
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B5676603D3D7E4088D7F8BA888C0B38" ma:contentTypeVersion="11" ma:contentTypeDescription="新しいドキュメントを作成します。" ma:contentTypeScope="" ma:versionID="e8cce42e48631da57ae73c6f2eb06cb9">
  <xsd:schema xmlns:xsd="http://www.w3.org/2001/XMLSchema" xmlns:xs="http://www.w3.org/2001/XMLSchema" xmlns:p="http://schemas.microsoft.com/office/2006/metadata/properties" xmlns:ns2="7818e5c9-ea08-4db5-acf3-0f4e9d7fe225" xmlns:ns3="5bf549c9-ca1a-4af3-b3ec-063fde923eda" targetNamespace="http://schemas.microsoft.com/office/2006/metadata/properties" ma:root="true" ma:fieldsID="745bb19d395c36be537a4e30870eb6be" ns2:_="" ns3:_="">
    <xsd:import namespace="7818e5c9-ea08-4db5-acf3-0f4e9d7fe225"/>
    <xsd:import namespace="5bf549c9-ca1a-4af3-b3ec-063fde923e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18e5c9-ea08-4db5-acf3-0f4e9d7fe2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3ce16e77-bf55-4ce4-9b91-b6c08d7ad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f549c9-ca1a-4af3-b3ec-063fde923ed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fde363-e762-4857-b719-47c3982a3842}" ma:internalName="TaxCatchAll" ma:showField="CatchAllData" ma:web="5bf549c9-ca1a-4af3-b3ec-063fde923e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9D1714-3726-46FC-A09F-17CE01220B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D33C95-28B3-4BEF-89EA-0F1C4ECA5534}">
  <ds:schemaRefs>
    <ds:schemaRef ds:uri="5bf549c9-ca1a-4af3-b3ec-063fde923eda"/>
    <ds:schemaRef ds:uri="7818e5c9-ea08-4db5-acf3-0f4e9d7fe2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Words>1685</Words>
  <Application>Microsoft Office PowerPoint</Application>
  <PresentationFormat>画面に合わせる (4:3)</PresentationFormat>
  <Paragraphs>292</Paragraphs>
  <Slides>14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3" baseType="lpstr">
      <vt:lpstr>HGS明朝E</vt:lpstr>
      <vt:lpstr>HG明朝E</vt:lpstr>
      <vt:lpstr>ＭＳ Ｐゴシック</vt:lpstr>
      <vt:lpstr>メイリオ</vt:lpstr>
      <vt:lpstr>Arial</vt:lpstr>
      <vt:lpstr>Calibri</vt:lpstr>
      <vt:lpstr>Tahoma</vt:lpstr>
      <vt:lpstr>Wingdings</vt:lpstr>
      <vt:lpstr>Office ​​テーマ</vt:lpstr>
      <vt:lpstr>２０２６年度活動方針検討会 　２０２５年度活動実績 　　　　　／２０２６年度活動計画</vt:lpstr>
      <vt:lpstr>目　次</vt:lpstr>
      <vt:lpstr>部門概要（２０２５年度／２０２６年度）</vt:lpstr>
      <vt:lpstr>２０２５年度活動実績（1/4）</vt:lpstr>
      <vt:lpstr>２０２５年度活動実績（2/4）</vt:lpstr>
      <vt:lpstr>２０２５年度活動実績（3/4）</vt:lpstr>
      <vt:lpstr>２０２５年度活動実績（4/4）</vt:lpstr>
      <vt:lpstr>２０２６年度活動計画題／課題解決（1/2）</vt:lpstr>
      <vt:lpstr>２０２６年度活動計画題／課題解決（2/2）</vt:lpstr>
      <vt:lpstr>２０２５年度売上実績〔予算比〕</vt:lpstr>
      <vt:lpstr>２０２６年度売上予算〔前年度比〕</vt:lpstr>
      <vt:lpstr>２０２６年度売上予算〔前年度比〕 ・主要因／課題　・具体策　・中期的施策 </vt:lpstr>
      <vt:lpstr>職場環境改善活動計画および実施状況　〔２０２５年度実績／２０２６年度計画〕 </vt:lpstr>
      <vt:lpstr>部門全般に関する問題点および課題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olivia</dc:creator>
  <cp:lastModifiedBy>新原 昭彦</cp:lastModifiedBy>
  <cp:revision>28</cp:revision>
  <cp:lastPrinted>2021-06-29T07:05:59Z</cp:lastPrinted>
  <dcterms:created xsi:type="dcterms:W3CDTF">2015-07-04T02:17:15Z</dcterms:created>
  <dcterms:modified xsi:type="dcterms:W3CDTF">2026-06-11T08:15:19Z</dcterms:modified>
</cp:coreProperties>
</file>